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60" r:id="rId5"/>
    <p:sldId id="261" r:id="rId6"/>
    <p:sldId id="263" r:id="rId7"/>
    <p:sldId id="264" r:id="rId8"/>
    <p:sldId id="265" r:id="rId9"/>
    <p:sldId id="268" r:id="rId10"/>
    <p:sldId id="269" r:id="rId11"/>
    <p:sldId id="270"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67F05C-E776-4942-975C-9133F7042551}" v="475" dt="2026-10-06T10:54:09.0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B1DDFF"/>
            </a:gs>
            <a:gs pos="100000">
              <a:srgbClr val="B1DDFF">
                <a:lumMod val="64000"/>
                <a:lumOff val="36000"/>
              </a:srgb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3" name="Rectangle 22"/>
          <p:cNvSpPr/>
          <p:nvPr/>
        </p:nvSpPr>
        <p:spPr>
          <a:xfrm>
            <a:off x="0" y="0"/>
            <a:ext cx="12192000" cy="6858000"/>
          </a:xfrm>
          <a:prstGeom prst="rect">
            <a:avLst/>
          </a:prstGeom>
          <a:blipFill dpi="0" rotWithShape="1">
            <a:blip r:embed="rId2">
              <a:alphaModFix amt="12000"/>
              <a:duotone>
                <a:schemeClr val="accent1">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10" name="Rectangle 9"/>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bg1"/>
                </a:solidFill>
                <a:effectLst/>
                <a:latin typeface="+mj-lt"/>
                <a:ea typeface="+mn-ea"/>
                <a:cs typeface="+mn-cs"/>
              </a:defRPr>
            </a:lvl1pPr>
          </a:lstStyle>
          <a:p>
            <a:r>
              <a:rPr lang="en-US" dirty="0"/>
              <a:t>Click to edit Master title style</a:t>
            </a:r>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bg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2AED8E5B-0D98-4FE1-9B26-D1041E3A89F9}" type="datetimeFigureOut">
              <a:rPr lang="en-US" dirty="0"/>
              <a:t>10/6/2026</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bg2"/>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bg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19498805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73C2DCB-466C-4061-8D51-D3254DD77FA1}" type="datetimeFigureOut">
              <a:rPr lang="en-US" dirty="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68151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bg2">
                <a:tint val="80000"/>
                <a:shade val="100000"/>
                <a:satMod val="300000"/>
              </a:schemeClr>
            </a:gs>
            <a:gs pos="100000">
              <a:srgbClr val="B1DDFF">
                <a:lumMod val="64000"/>
                <a:lumOff val="36000"/>
              </a:srgb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blipFill dpi="0" rotWithShape="1">
            <a:blip r:embed="rId2">
              <a:alphaModFix amt="12000"/>
              <a:duotone>
                <a:schemeClr val="accent2">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23" name="Rectangle 22"/>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bg1"/>
                </a:solidFill>
                <a:effectLst/>
                <a:latin typeface="+mj-lt"/>
                <a:ea typeface="+mn-ea"/>
                <a:cs typeface="+mn-cs"/>
              </a:defRPr>
            </a:lvl1pPr>
          </a:lstStyle>
          <a:p>
            <a:r>
              <a:rPr lang="en-US" dirty="0"/>
              <a:t>Click to edit Master title style</a:t>
            </a:r>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bg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8642357F-39F6-401C-9FF8-3072724998F3}" type="datetimeFigureOut">
              <a:rPr lang="en-US" dirty="0"/>
              <a:t>10/6/2026</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bg2"/>
                </a:solidFil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bg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64981877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D5DB09B-D413-414E-B13F-B1984CD8FF65}" type="datetimeFigureOut">
              <a:rPr lang="en-US" dirty="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821031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6238F992-55E7-4B2D-A6F1-8C9243CBFE1B}" type="datetimeFigureOut">
              <a:rPr lang="en-US" dirty="0"/>
              <a:t>10/6/2026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42295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F0298110-BAA6-4256-A2E5-BB66A47D2616}" type="datetimeFigureOut">
              <a:rPr lang="en-US" dirty="0"/>
              <a:t>10/6/2026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185562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903892-3343-4E4E-B81B-70A099359AD2}" type="datetimeFigureOut">
              <a:rPr lang="en-US" dirty="0"/>
              <a:t>10/6/2026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269055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dirty="0"/>
              <a:t>Click to edit Master title style</a:t>
            </a:r>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p:txBody>
          <a:bodyPr/>
          <a:lstStyle/>
          <a:p>
            <a:fld id="{00232F85-D33A-46AF-9088-5A7400C1018E}" type="datetimeFigureOut">
              <a:rPr lang="en-US" dirty="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798111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dirty="0"/>
              <a:t>Click to edit Master title style</a:t>
            </a:r>
          </a:p>
        </p:txBody>
      </p:sp>
      <p:sp>
        <p:nvSpPr>
          <p:cNvPr id="3" name="Picture Placeholder 2"/>
          <p:cNvSpPr>
            <a:spLocks noGrp="1" noChangeAspect="1"/>
          </p:cNvSpPr>
          <p:nvPr>
            <p:ph type="pic" idx="1"/>
          </p:nvPr>
        </p:nvSpPr>
        <p:spPr>
          <a:xfrm>
            <a:off x="228599" y="237744"/>
            <a:ext cx="8531352" cy="6382512"/>
          </a:xfrm>
          <a:solidFill>
            <a:srgbClr val="969696"/>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lvl1pPr>
              <a:defRPr>
                <a:effectLst>
                  <a:outerShdw blurRad="12700" dist="3810" dir="2700000" algn="tl" rotWithShape="0">
                    <a:prstClr val="black">
                      <a:alpha val="40000"/>
                    </a:prstClr>
                  </a:outerShdw>
                </a:effectLst>
              </a:defRPr>
            </a:lvl1pPr>
          </a:lstStyle>
          <a:p>
            <a:fld id="{3EB3A624-F501-46A9-B8CA-4949E24E27C8}" type="datetimeFigureOut">
              <a:rPr lang="en-US" dirty="0"/>
              <a:t>10/6/2026</a:t>
            </a:fld>
            <a:endParaRPr lang="en-US" dirty="0"/>
          </a:p>
        </p:txBody>
      </p:sp>
      <p:sp>
        <p:nvSpPr>
          <p:cNvPr id="12" name="Footer Placeholder 11"/>
          <p:cNvSpPr>
            <a:spLocks noGrp="1"/>
          </p:cNvSpPr>
          <p:nvPr>
            <p:ph type="ftr" sz="quarter" idx="11"/>
          </p:nvPr>
        </p:nvSpPr>
        <p:spPr/>
        <p:txBody>
          <a:bodyPr/>
          <a:lstStyle>
            <a:lvl1pPr algn="r">
              <a:defRPr lang="en-US" sz="1000" kern="1200" dirty="0">
                <a:solidFill>
                  <a:schemeClr val="tx1">
                    <a:lumMod val="75000"/>
                    <a:lumOff val="25000"/>
                  </a:schemeClr>
                </a:solidFill>
                <a:effectLst>
                  <a:outerShdw blurRad="12700" dist="3810" dir="2700000" algn="tl" rotWithShape="0">
                    <a:prstClr val="black">
                      <a:alpha val="40000"/>
                    </a:prstClr>
                  </a:outerShdw>
                </a:effectLst>
                <a:latin typeface="+mn-lt"/>
                <a:ea typeface="+mn-ea"/>
                <a:cs typeface="+mn-cs"/>
              </a:defRPr>
            </a:lvl1pPr>
          </a:lstStyle>
          <a:p>
            <a:endParaRPr lang="en-US" dirty="0"/>
          </a:p>
        </p:txBody>
      </p:sp>
      <p:sp>
        <p:nvSpPr>
          <p:cNvPr id="13" name="Slide Number Placeholder 12"/>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013463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B4159CD-DA3A-463F-AFEF-A68838A6859B}" type="datetimeFigureOut">
              <a:rPr lang="en-US" dirty="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549228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312A925-E007-46C2-84AB-35EE10DCAD39}" type="datetimeFigureOut">
              <a:rPr lang="en-US" dirty="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747262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40C4D3C1-679D-44D8-8A9C-D402CE4EF569}" type="datetimeFigureOut">
              <a:rPr lang="en-US" dirty="0"/>
              <a:t>10/6/2026</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14667"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782175470"/>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Weather traffic forecasting </a:t>
            </a:r>
          </a:p>
        </p:txBody>
      </p:sp>
      <p:sp>
        <p:nvSpPr>
          <p:cNvPr id="3" name="Subtitle 2"/>
          <p:cNvSpPr>
            <a:spLocks noGrp="1"/>
          </p:cNvSpPr>
          <p:nvPr>
            <p:ph type="subTitle" idx="1"/>
          </p:nvPr>
        </p:nvSpPr>
        <p:spPr/>
        <p:txBody>
          <a:bodyPr vert="horz" lIns="91440" tIns="45720" rIns="91440" bIns="45720" rtlCol="0" anchor="t">
            <a:normAutofit/>
          </a:bodyPr>
          <a:lstStyle/>
          <a:p>
            <a:r>
              <a:rPr lang="en-US" b="1" dirty="0"/>
              <a:t>Name-Shreya Vijay Shende </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A0EFE-DFA9-1429-E042-C0CAC38D988C}"/>
              </a:ext>
            </a:extLst>
          </p:cNvPr>
          <p:cNvSpPr>
            <a:spLocks noGrp="1"/>
          </p:cNvSpPr>
          <p:nvPr>
            <p:ph type="title"/>
          </p:nvPr>
        </p:nvSpPr>
        <p:spPr>
          <a:xfrm>
            <a:off x="908650" y="642594"/>
            <a:ext cx="10676625" cy="5771071"/>
          </a:xfrm>
        </p:spPr>
        <p:txBody>
          <a:bodyPr vert="horz" lIns="91440" tIns="45720" rIns="91440" bIns="45720" rtlCol="0" anchor="ctr">
            <a:noAutofit/>
          </a:bodyPr>
          <a:lstStyle/>
          <a:p>
            <a:pPr algn="ctr"/>
            <a:r>
              <a:rPr lang="en-US" sz="4000" b="1">
                <a:solidFill>
                  <a:srgbClr val="FF0000"/>
                </a:solidFill>
              </a:rPr>
              <a:t>INTRODUCTION</a:t>
            </a:r>
            <a:endParaRPr lang="en-US" sz="4000"/>
          </a:p>
          <a:p>
            <a:pPr marL="342900" indent="-342900">
              <a:buFont typeface="Arial"/>
              <a:buChar char="•"/>
            </a:pPr>
            <a:r>
              <a:rPr lang="en-US" sz="2800">
                <a:ea typeface="+mj-lt"/>
                <a:cs typeface="+mj-lt"/>
              </a:rPr>
              <a:t>Website traffic forecasting predicts the number of visitors or page loads for future dates.</a:t>
            </a:r>
            <a:endParaRPr lang="en-US" sz="2800"/>
          </a:p>
          <a:p>
            <a:pPr marL="342900" indent="-342900">
              <a:buFont typeface="Arial"/>
              <a:buChar char="•"/>
            </a:pPr>
            <a:r>
              <a:rPr lang="en-US" sz="2800">
                <a:ea typeface="+mj-lt"/>
                <a:cs typeface="+mj-lt"/>
              </a:rPr>
              <a:t>Accurate traffic prediction helps organizations understand future demand.</a:t>
            </a:r>
            <a:endParaRPr lang="en-US" sz="2800"/>
          </a:p>
          <a:p>
            <a:pPr marL="342900" indent="-342900">
              <a:buFont typeface="Arial"/>
              <a:buChar char="•"/>
            </a:pPr>
            <a:r>
              <a:rPr lang="en-US" sz="2800">
                <a:ea typeface="+mj-lt"/>
                <a:cs typeface="+mj-lt"/>
              </a:rPr>
              <a:t>It supports better resource allocation, server planning and business decision-making.</a:t>
            </a:r>
            <a:endParaRPr lang="en-US" sz="2800"/>
          </a:p>
          <a:p>
            <a:pPr marL="342900" indent="-342900">
              <a:buFont typeface="Arial"/>
              <a:buChar char="•"/>
            </a:pPr>
            <a:r>
              <a:rPr lang="en-US" sz="2800">
                <a:ea typeface="+mj-lt"/>
                <a:cs typeface="+mj-lt"/>
              </a:rPr>
              <a:t>This project analyzes historical daily website traffic and predicts future traffic using multiple forecasting approaches.</a:t>
            </a:r>
            <a:endParaRPr lang="en-US" sz="2800"/>
          </a:p>
          <a:p>
            <a:pPr marL="342900" indent="-342900">
              <a:buFont typeface="Arial"/>
              <a:buChar char="•"/>
            </a:pPr>
            <a:r>
              <a:rPr lang="en-US" sz="2800">
                <a:ea typeface="+mj-lt"/>
                <a:cs typeface="+mj-lt"/>
              </a:rPr>
              <a:t>Both time-series and machine-learning techniques are evaluated to identify the most effective model.</a:t>
            </a:r>
            <a:endParaRPr lang="en-US" sz="2800"/>
          </a:p>
          <a:p>
            <a:endParaRPr lang="en-US" sz="2800"/>
          </a:p>
        </p:txBody>
      </p:sp>
    </p:spTree>
    <p:extLst>
      <p:ext uri="{BB962C8B-B14F-4D97-AF65-F5344CB8AC3E}">
        <p14:creationId xmlns:p14="http://schemas.microsoft.com/office/powerpoint/2010/main" val="4085657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8BF91-8BC3-FC48-223A-F19B5DAED49F}"/>
              </a:ext>
            </a:extLst>
          </p:cNvPr>
          <p:cNvSpPr>
            <a:spLocks noGrp="1"/>
          </p:cNvSpPr>
          <p:nvPr>
            <p:ph type="title"/>
          </p:nvPr>
        </p:nvSpPr>
        <p:spPr>
          <a:xfrm>
            <a:off x="9296400" y="607392"/>
            <a:ext cx="2430780" cy="3586863"/>
          </a:xfrm>
        </p:spPr>
        <p:txBody>
          <a:bodyPr>
            <a:normAutofit/>
          </a:bodyPr>
          <a:lstStyle/>
          <a:p>
            <a:r>
              <a:rPr lang="en-US" b="1">
                <a:ea typeface="+mj-lt"/>
                <a:cs typeface="+mj-lt"/>
              </a:rPr>
              <a:t>Historical Data → ML Forecasting → Better Decisions</a:t>
            </a:r>
            <a:endParaRPr lang="en-US"/>
          </a:p>
          <a:p>
            <a:endParaRPr lang="en-US" b="1"/>
          </a:p>
        </p:txBody>
      </p:sp>
      <p:sp>
        <p:nvSpPr>
          <p:cNvPr id="3" name="Content Placeholder 2">
            <a:extLst>
              <a:ext uri="{FF2B5EF4-FFF2-40B4-BE49-F238E27FC236}">
                <a16:creationId xmlns:a16="http://schemas.microsoft.com/office/drawing/2014/main" id="{1FC190DE-9F28-C81B-D75E-7D3F403EC0B7}"/>
              </a:ext>
            </a:extLst>
          </p:cNvPr>
          <p:cNvSpPr>
            <a:spLocks noGrp="1"/>
          </p:cNvSpPr>
          <p:nvPr>
            <p:ph idx="1"/>
          </p:nvPr>
        </p:nvSpPr>
        <p:spPr/>
        <p:txBody>
          <a:bodyPr vert="horz" lIns="91440" tIns="45720" rIns="91440" bIns="45720" rtlCol="0" anchor="t">
            <a:normAutofit fontScale="92500" lnSpcReduction="20000"/>
          </a:bodyPr>
          <a:lstStyle/>
          <a:p>
            <a:pPr algn="ctr"/>
            <a:r>
              <a:rPr lang="en-US" sz="2400" b="1" dirty="0">
                <a:solidFill>
                  <a:srgbClr val="FF0000"/>
                </a:solidFill>
                <a:ea typeface="+mn-lt"/>
                <a:cs typeface="+mn-lt"/>
              </a:rPr>
              <a:t>PROBLEM STATEMENT &amp; OBJECTIVES</a:t>
            </a:r>
          </a:p>
          <a:p>
            <a:pPr algn="ctr">
              <a:buNone/>
            </a:pPr>
            <a:r>
              <a:rPr lang="en-US" dirty="0"/>
              <a:t>Problem Statement</a:t>
            </a:r>
          </a:p>
          <a:p>
            <a:pPr algn="ctr">
              <a:buNone/>
            </a:pPr>
            <a:r>
              <a:rPr lang="en-US" sz="2400" dirty="0">
                <a:solidFill>
                  <a:srgbClr val="FF0000"/>
                </a:solidFill>
                <a:ea typeface="+mn-lt"/>
                <a:cs typeface="+mn-lt"/>
              </a:rPr>
              <a:t>Website traffic varies over time due to weekly patterns, trends and other factors. Manual estimation may not accurately predict future traffic.</a:t>
            </a:r>
            <a:endParaRPr lang="en-US" dirty="0"/>
          </a:p>
          <a:p>
            <a:pPr algn="ctr">
              <a:buNone/>
            </a:pPr>
            <a:r>
              <a:rPr lang="en-US" dirty="0"/>
              <a:t>Objectives</a:t>
            </a:r>
          </a:p>
          <a:p>
            <a:pPr algn="ctr">
              <a:buFont typeface="Arial"/>
              <a:buChar char="•"/>
            </a:pPr>
            <a:r>
              <a:rPr lang="en-US" sz="2400" dirty="0">
                <a:solidFill>
                  <a:srgbClr val="FF0000"/>
                </a:solidFill>
                <a:ea typeface="+mn-lt"/>
                <a:cs typeface="+mn-lt"/>
              </a:rPr>
              <a:t>Analyze historical website traffic data.</a:t>
            </a:r>
            <a:endParaRPr lang="en-US" dirty="0"/>
          </a:p>
          <a:p>
            <a:pPr algn="ctr">
              <a:buFont typeface="Arial"/>
              <a:buChar char="•"/>
            </a:pPr>
            <a:r>
              <a:rPr lang="en-US" sz="2400" dirty="0">
                <a:solidFill>
                  <a:srgbClr val="FF0000"/>
                </a:solidFill>
                <a:ea typeface="+mn-lt"/>
                <a:cs typeface="+mn-lt"/>
              </a:rPr>
              <a:t>Perform data preprocessing and quality checks.</a:t>
            </a:r>
            <a:endParaRPr lang="en-US" dirty="0"/>
          </a:p>
          <a:p>
            <a:pPr algn="ctr">
              <a:buFont typeface="Arial"/>
              <a:buChar char="•"/>
            </a:pPr>
            <a:r>
              <a:rPr lang="en-US" sz="2400" dirty="0">
                <a:solidFill>
                  <a:srgbClr val="FF0000"/>
                </a:solidFill>
                <a:ea typeface="+mn-lt"/>
                <a:cs typeface="+mn-lt"/>
              </a:rPr>
              <a:t>Identify important traffic patterns and trends.</a:t>
            </a:r>
            <a:endParaRPr lang="en-US" dirty="0"/>
          </a:p>
          <a:p>
            <a:pPr algn="ctr">
              <a:buFont typeface="Arial"/>
              <a:buChar char="•"/>
            </a:pPr>
            <a:r>
              <a:rPr lang="en-US" sz="2400" dirty="0">
                <a:solidFill>
                  <a:srgbClr val="FF0000"/>
                </a:solidFill>
                <a:ea typeface="+mn-lt"/>
                <a:cs typeface="+mn-lt"/>
              </a:rPr>
              <a:t>Create time-series and machine-learning forecasting models.</a:t>
            </a:r>
            <a:endParaRPr lang="en-US" dirty="0"/>
          </a:p>
          <a:p>
            <a:pPr algn="ctr">
              <a:buFont typeface="Arial"/>
              <a:buChar char="•"/>
            </a:pPr>
            <a:r>
              <a:rPr lang="en-US" sz="2400" dirty="0">
                <a:solidFill>
                  <a:srgbClr val="FF0000"/>
                </a:solidFill>
                <a:ea typeface="+mn-lt"/>
                <a:cs typeface="+mn-lt"/>
              </a:rPr>
              <a:t>Compare models using RMSE, MAE and MAPE.</a:t>
            </a:r>
            <a:endParaRPr lang="en-US" dirty="0"/>
          </a:p>
          <a:p>
            <a:pPr algn="ctr">
              <a:buFont typeface="Arial"/>
              <a:buChar char="•"/>
            </a:pPr>
            <a:r>
              <a:rPr lang="en-US" sz="2400" dirty="0">
                <a:solidFill>
                  <a:srgbClr val="FF0000"/>
                </a:solidFill>
                <a:ea typeface="+mn-lt"/>
                <a:cs typeface="+mn-lt"/>
              </a:rPr>
              <a:t>Forecast future website traffic.</a:t>
            </a:r>
            <a:endParaRPr lang="en-US" dirty="0"/>
          </a:p>
          <a:p>
            <a:pPr algn="ctr">
              <a:buFont typeface="Arial"/>
              <a:buChar char="•"/>
            </a:pPr>
            <a:r>
              <a:rPr lang="en-US" sz="2400" dirty="0">
                <a:solidFill>
                  <a:srgbClr val="FF0000"/>
                </a:solidFill>
                <a:ea typeface="+mn-lt"/>
                <a:cs typeface="+mn-lt"/>
              </a:rPr>
              <a:t>Develop a user-friendly </a:t>
            </a:r>
            <a:r>
              <a:rPr lang="en-US" sz="2400" dirty="0" err="1">
                <a:solidFill>
                  <a:srgbClr val="FF0000"/>
                </a:solidFill>
                <a:ea typeface="+mn-lt"/>
                <a:cs typeface="+mn-lt"/>
              </a:rPr>
              <a:t>Streamlit</a:t>
            </a:r>
            <a:r>
              <a:rPr lang="en-US" sz="2400" dirty="0">
                <a:solidFill>
                  <a:srgbClr val="FF0000"/>
                </a:solidFill>
                <a:ea typeface="+mn-lt"/>
                <a:cs typeface="+mn-lt"/>
              </a:rPr>
              <a:t> dashboard.</a:t>
            </a:r>
            <a:endParaRPr lang="en-US" dirty="0"/>
          </a:p>
          <a:p>
            <a:pPr marL="0" indent="0" algn="ctr">
              <a:buNone/>
            </a:pPr>
            <a:endParaRPr lang="en-US" sz="2400" dirty="0">
              <a:solidFill>
                <a:srgbClr val="FF0000"/>
              </a:solidFill>
            </a:endParaRPr>
          </a:p>
        </p:txBody>
      </p:sp>
    </p:spTree>
    <p:extLst>
      <p:ext uri="{BB962C8B-B14F-4D97-AF65-F5344CB8AC3E}">
        <p14:creationId xmlns:p14="http://schemas.microsoft.com/office/powerpoint/2010/main" val="2561626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F7EC5-27BB-F683-E831-F4DD0A9F12C9}"/>
              </a:ext>
            </a:extLst>
          </p:cNvPr>
          <p:cNvSpPr>
            <a:spLocks noGrp="1"/>
          </p:cNvSpPr>
          <p:nvPr>
            <p:ph type="title"/>
          </p:nvPr>
        </p:nvSpPr>
        <p:spPr>
          <a:xfrm>
            <a:off x="9296400" y="574750"/>
            <a:ext cx="2432304" cy="6160409"/>
          </a:xfrm>
        </p:spPr>
        <p:txBody>
          <a:bodyPr/>
          <a:lstStyle/>
          <a:p>
            <a:pPr algn="ctr"/>
            <a:r>
              <a:rPr lang="en-US" sz="2400" b="1" dirty="0">
                <a:solidFill>
                  <a:srgbClr val="FF0000"/>
                </a:solidFill>
              </a:rPr>
              <a:t>Main Features</a:t>
            </a:r>
            <a:endParaRPr lang="en-US" sz="2400"/>
          </a:p>
          <a:p>
            <a:r>
              <a:rPr lang="en-US" sz="2000" dirty="0">
                <a:ea typeface="+mj-lt"/>
                <a:cs typeface="+mj-lt"/>
              </a:rPr>
              <a:t>1]Date</a:t>
            </a:r>
            <a:br>
              <a:rPr lang="en-US" sz="2000" dirty="0">
                <a:ea typeface="+mj-lt"/>
                <a:cs typeface="+mj-lt"/>
              </a:rPr>
            </a:br>
            <a:r>
              <a:rPr lang="en-US" sz="2000" dirty="0">
                <a:ea typeface="+mj-lt"/>
                <a:cs typeface="+mj-lt"/>
              </a:rPr>
              <a:t>2]Page Loads</a:t>
            </a:r>
            <a:endParaRPr lang="en-US" sz="2000" dirty="0"/>
          </a:p>
          <a:p>
            <a:r>
              <a:rPr lang="en-US" sz="2000" dirty="0">
                <a:ea typeface="+mj-lt"/>
                <a:cs typeface="+mj-lt"/>
              </a:rPr>
              <a:t>3]Unique Visits</a:t>
            </a:r>
            <a:endParaRPr lang="en-US" sz="2000" dirty="0"/>
          </a:p>
          <a:p>
            <a:r>
              <a:rPr lang="en-US" sz="2000" dirty="0">
                <a:ea typeface="+mj-lt"/>
                <a:cs typeface="+mj-lt"/>
              </a:rPr>
              <a:t>4]First-Time Visits</a:t>
            </a:r>
            <a:endParaRPr lang="en-US" sz="2000" dirty="0"/>
          </a:p>
          <a:p>
            <a:r>
              <a:rPr lang="en-US" sz="2000" dirty="0">
                <a:ea typeface="+mj-lt"/>
                <a:cs typeface="+mj-lt"/>
              </a:rPr>
              <a:t>5]Returning Visits</a:t>
            </a:r>
            <a:endParaRPr lang="en-US" sz="2000" dirty="0"/>
          </a:p>
          <a:p>
            <a:r>
              <a:rPr lang="en-US" sz="2000" dirty="0">
                <a:ea typeface="+mj-lt"/>
                <a:cs typeface="+mj-lt"/>
              </a:rPr>
              <a:t>6]New Sessions</a:t>
            </a:r>
            <a:endParaRPr lang="en-US" sz="2000" dirty="0"/>
          </a:p>
          <a:p>
            <a:r>
              <a:rPr lang="en-US" sz="2000" dirty="0">
                <a:ea typeface="+mj-lt"/>
                <a:cs typeface="+mj-lt"/>
              </a:rPr>
              <a:t>7]Returning Sessions</a:t>
            </a:r>
            <a:endParaRPr lang="en-US" sz="2000" dirty="0"/>
          </a:p>
          <a:p>
            <a:r>
              <a:rPr lang="en-US" sz="2000" dirty="0">
                <a:ea typeface="+mj-lt"/>
                <a:cs typeface="+mj-lt"/>
              </a:rPr>
              <a:t>8]New Visits</a:t>
            </a:r>
            <a:endParaRPr lang="en-US" sz="2000" dirty="0"/>
          </a:p>
          <a:p>
            <a:r>
              <a:rPr lang="en-US" sz="2000" i="1" dirty="0">
                <a:solidFill>
                  <a:schemeClr val="bg1">
                    <a:lumMod val="95000"/>
                    <a:lumOff val="5000"/>
                  </a:schemeClr>
                </a:solidFill>
                <a:ea typeface="+mj-lt"/>
                <a:cs typeface="+mj-lt"/>
              </a:rPr>
              <a:t>The dataset contains continuous daily observations, making it suitable for time-series forecasting.</a:t>
            </a:r>
            <a:endParaRPr lang="en-US" sz="2000" i="1">
              <a:solidFill>
                <a:schemeClr val="bg1">
                  <a:lumMod val="95000"/>
                  <a:lumOff val="5000"/>
                </a:schemeClr>
              </a:solidFill>
            </a:endParaRPr>
          </a:p>
          <a:p>
            <a:endParaRPr lang="en-US" i="1" dirty="0">
              <a:solidFill>
                <a:schemeClr val="bg1">
                  <a:lumMod val="95000"/>
                  <a:lumOff val="5000"/>
                </a:schemeClr>
              </a:solidFill>
            </a:endParaRPr>
          </a:p>
        </p:txBody>
      </p:sp>
      <p:pic>
        <p:nvPicPr>
          <p:cNvPr id="7" name="Picture Placeholder 6">
            <a:extLst>
              <a:ext uri="{FF2B5EF4-FFF2-40B4-BE49-F238E27FC236}">
                <a16:creationId xmlns:a16="http://schemas.microsoft.com/office/drawing/2014/main" id="{A228726C-BF9F-3B8B-C4FA-957E71B83738}"/>
              </a:ext>
            </a:extLst>
          </p:cNvPr>
          <p:cNvPicPr>
            <a:picLocks noGrp="1" noChangeAspect="1"/>
          </p:cNvPicPr>
          <p:nvPr>
            <p:ph type="pic" idx="1"/>
          </p:nvPr>
        </p:nvPicPr>
        <p:blipFill>
          <a:blip r:embed="rId2"/>
          <a:srcRect l="1698" r="1698"/>
          <a:stretch/>
        </p:blipFill>
        <p:spPr>
          <a:xfrm>
            <a:off x="650848" y="2674817"/>
            <a:ext cx="8031910" cy="3837496"/>
          </a:xfrm>
          <a:prstGeom prst="rect">
            <a:avLst/>
          </a:prstGeom>
          <a:solidFill>
            <a:srgbClr val="969696"/>
          </a:solidFill>
          <a:ln>
            <a:noFill/>
          </a:ln>
        </p:spPr>
      </p:pic>
      <p:sp>
        <p:nvSpPr>
          <p:cNvPr id="5" name="TextBox 4">
            <a:extLst>
              <a:ext uri="{FF2B5EF4-FFF2-40B4-BE49-F238E27FC236}">
                <a16:creationId xmlns:a16="http://schemas.microsoft.com/office/drawing/2014/main" id="{093013BD-6137-29E8-E9C7-03071EDAD03D}"/>
              </a:ext>
            </a:extLst>
          </p:cNvPr>
          <p:cNvSpPr txBox="1"/>
          <p:nvPr/>
        </p:nvSpPr>
        <p:spPr>
          <a:xfrm>
            <a:off x="426720" y="350520"/>
            <a:ext cx="82143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ea typeface="+mn-lt"/>
                <a:cs typeface="+mn-lt"/>
              </a:rPr>
              <a:t>DATASET DESCRIPTION</a:t>
            </a:r>
            <a:endParaRPr lang="en-US" sz="2400" b="1">
              <a:solidFill>
                <a:srgbClr val="FF0000"/>
              </a:solidFill>
            </a:endParaRPr>
          </a:p>
        </p:txBody>
      </p:sp>
      <p:sp>
        <p:nvSpPr>
          <p:cNvPr id="6" name="TextBox 5">
            <a:extLst>
              <a:ext uri="{FF2B5EF4-FFF2-40B4-BE49-F238E27FC236}">
                <a16:creationId xmlns:a16="http://schemas.microsoft.com/office/drawing/2014/main" id="{725B3644-CE04-547D-73C7-9858158E604C}"/>
              </a:ext>
            </a:extLst>
          </p:cNvPr>
          <p:cNvSpPr txBox="1"/>
          <p:nvPr/>
        </p:nvSpPr>
        <p:spPr>
          <a:xfrm>
            <a:off x="548639" y="914400"/>
            <a:ext cx="803148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Dataset: Daily Website Visitors</a:t>
            </a:r>
          </a:p>
          <a:p>
            <a:pPr marL="285750" indent="-285750">
              <a:buFont typeface="Arial"/>
              <a:buChar char="•"/>
            </a:pPr>
            <a:r>
              <a:rPr lang="en-US" dirty="0">
                <a:ea typeface="+mn-lt"/>
                <a:cs typeface="+mn-lt"/>
              </a:rPr>
              <a:t>Total records: </a:t>
            </a:r>
            <a:r>
              <a:rPr lang="en-US" b="1" dirty="0">
                <a:ea typeface="+mn-lt"/>
                <a:cs typeface="+mn-lt"/>
              </a:rPr>
              <a:t>2,167 daily observations</a:t>
            </a:r>
            <a:endParaRPr lang="en-US" dirty="0"/>
          </a:p>
          <a:p>
            <a:pPr marL="285750" indent="-285750">
              <a:buFont typeface="Arial"/>
              <a:buChar char="•"/>
            </a:pPr>
            <a:r>
              <a:rPr lang="en-US" dirty="0">
                <a:ea typeface="+mn-lt"/>
                <a:cs typeface="+mn-lt"/>
              </a:rPr>
              <a:t>Time period: </a:t>
            </a:r>
            <a:r>
              <a:rPr lang="en-US" b="1" dirty="0">
                <a:ea typeface="+mn-lt"/>
                <a:cs typeface="+mn-lt"/>
              </a:rPr>
              <a:t>September 2014 – August 2020</a:t>
            </a:r>
            <a:endParaRPr lang="en-US" dirty="0"/>
          </a:p>
          <a:p>
            <a:pPr marL="285750" indent="-285750">
              <a:buFont typeface="Arial"/>
              <a:buChar char="•"/>
            </a:pPr>
            <a:r>
              <a:rPr lang="en-US" dirty="0">
                <a:ea typeface="+mn-lt"/>
                <a:cs typeface="+mn-lt"/>
              </a:rPr>
              <a:t>Target variable: </a:t>
            </a:r>
            <a:r>
              <a:rPr lang="en-US" b="1" dirty="0" err="1">
                <a:ea typeface="+mn-lt"/>
                <a:cs typeface="+mn-lt"/>
              </a:rPr>
              <a:t>Page.Loads</a:t>
            </a:r>
            <a:endParaRPr lang="en-US" dirty="0" err="1"/>
          </a:p>
          <a:p>
            <a:pPr marL="285750" indent="-285750">
              <a:buFont typeface="Arial"/>
              <a:buChar char="•"/>
            </a:pPr>
            <a:r>
              <a:rPr lang="en-US" dirty="0">
                <a:ea typeface="+mn-lt"/>
                <a:cs typeface="+mn-lt"/>
              </a:rPr>
              <a:t>Data contains daily website traffic and visitor information.</a:t>
            </a:r>
            <a:endParaRPr lang="en-US" dirty="0"/>
          </a:p>
          <a:p>
            <a:pPr algn="l"/>
            <a:endParaRPr lang="en-US" dirty="0"/>
          </a:p>
        </p:txBody>
      </p:sp>
    </p:spTree>
    <p:extLst>
      <p:ext uri="{BB962C8B-B14F-4D97-AF65-F5344CB8AC3E}">
        <p14:creationId xmlns:p14="http://schemas.microsoft.com/office/powerpoint/2010/main" val="2801941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B8BB2E-7BF2-B61F-DCB5-D9096E8B65B3}"/>
              </a:ext>
            </a:extLst>
          </p:cNvPr>
          <p:cNvSpPr>
            <a:spLocks noGrp="1"/>
          </p:cNvSpPr>
          <p:nvPr>
            <p:ph idx="1"/>
          </p:nvPr>
        </p:nvSpPr>
        <p:spPr/>
        <p:txBody>
          <a:bodyPr vert="horz" lIns="91440" tIns="45720" rIns="91440" bIns="45720" rtlCol="0" anchor="t">
            <a:normAutofit fontScale="92500" lnSpcReduction="10000"/>
          </a:bodyPr>
          <a:lstStyle/>
          <a:p>
            <a:pPr marL="0" indent="0" algn="ctr">
              <a:buNone/>
            </a:pPr>
            <a:r>
              <a:rPr lang="en-US" sz="2400" b="1" dirty="0">
                <a:solidFill>
                  <a:srgbClr val="FF0000"/>
                </a:solidFill>
                <a:ea typeface="+mn-lt"/>
                <a:cs typeface="+mn-lt"/>
              </a:rPr>
              <a:t>DATA PREPROCESSING</a:t>
            </a:r>
            <a:endParaRPr lang="en-US"/>
          </a:p>
          <a:p>
            <a:pPr algn="ctr">
              <a:buNone/>
            </a:pPr>
            <a:r>
              <a:rPr lang="en-US" sz="2400" dirty="0">
                <a:solidFill>
                  <a:srgbClr val="FF0000"/>
                </a:solidFill>
                <a:ea typeface="+mn-lt"/>
                <a:cs typeface="+mn-lt"/>
              </a:rPr>
              <a:t>The following preprocessing steps were performed:</a:t>
            </a:r>
            <a:endParaRPr lang="en-US" dirty="0"/>
          </a:p>
          <a:p>
            <a:pPr algn="ctr">
              <a:buFont typeface="Arial"/>
              <a:buChar char="•"/>
            </a:pPr>
            <a:r>
              <a:rPr lang="en-US" sz="2400" dirty="0">
                <a:solidFill>
                  <a:srgbClr val="FF0000"/>
                </a:solidFill>
                <a:ea typeface="+mn-lt"/>
                <a:cs typeface="+mn-lt"/>
              </a:rPr>
              <a:t>Converted the </a:t>
            </a:r>
            <a:r>
              <a:rPr lang="en-US" sz="2400" b="1" dirty="0">
                <a:solidFill>
                  <a:srgbClr val="FF0000"/>
                </a:solidFill>
                <a:ea typeface="+mn-lt"/>
                <a:cs typeface="+mn-lt"/>
              </a:rPr>
              <a:t>Date</a:t>
            </a:r>
            <a:r>
              <a:rPr lang="en-US" sz="2400" dirty="0">
                <a:solidFill>
                  <a:srgbClr val="FF0000"/>
                </a:solidFill>
                <a:ea typeface="+mn-lt"/>
                <a:cs typeface="+mn-lt"/>
              </a:rPr>
              <a:t> column into datetime format.</a:t>
            </a:r>
            <a:endParaRPr lang="en-US" dirty="0"/>
          </a:p>
          <a:p>
            <a:pPr algn="ctr">
              <a:buFont typeface="Arial"/>
              <a:buChar char="•"/>
            </a:pPr>
            <a:r>
              <a:rPr lang="en-US" sz="2400" dirty="0">
                <a:solidFill>
                  <a:srgbClr val="FF0000"/>
                </a:solidFill>
                <a:ea typeface="+mn-lt"/>
                <a:cs typeface="+mn-lt"/>
              </a:rPr>
              <a:t>Sorted the data chronologically.</a:t>
            </a:r>
            <a:endParaRPr lang="en-US" dirty="0"/>
          </a:p>
          <a:p>
            <a:pPr algn="ctr">
              <a:buFont typeface="Arial"/>
              <a:buChar char="•"/>
            </a:pPr>
            <a:r>
              <a:rPr lang="en-US" sz="2400" dirty="0">
                <a:solidFill>
                  <a:srgbClr val="FF0000"/>
                </a:solidFill>
                <a:ea typeface="+mn-lt"/>
                <a:cs typeface="+mn-lt"/>
              </a:rPr>
              <a:t>Removed duplicate dates where required.</a:t>
            </a:r>
            <a:endParaRPr lang="en-US" dirty="0"/>
          </a:p>
          <a:p>
            <a:pPr algn="ctr">
              <a:buFont typeface="Arial"/>
              <a:buChar char="•"/>
            </a:pPr>
            <a:r>
              <a:rPr lang="en-US" sz="2400" dirty="0">
                <a:solidFill>
                  <a:srgbClr val="FF0000"/>
                </a:solidFill>
                <a:ea typeface="+mn-lt"/>
                <a:cs typeface="+mn-lt"/>
              </a:rPr>
              <a:t>Converted comma-separated traffic values into numeric format.</a:t>
            </a:r>
            <a:endParaRPr lang="en-US" dirty="0"/>
          </a:p>
          <a:p>
            <a:pPr algn="ctr">
              <a:buFont typeface="Arial"/>
              <a:buChar char="•"/>
            </a:pPr>
            <a:r>
              <a:rPr lang="en-US" sz="2400" dirty="0">
                <a:solidFill>
                  <a:srgbClr val="FF0000"/>
                </a:solidFill>
                <a:ea typeface="+mn-lt"/>
                <a:cs typeface="+mn-lt"/>
              </a:rPr>
              <a:t>Checked for missing values.</a:t>
            </a:r>
            <a:endParaRPr lang="en-US" dirty="0"/>
          </a:p>
          <a:p>
            <a:pPr algn="ctr">
              <a:buFont typeface="Arial"/>
              <a:buChar char="•"/>
            </a:pPr>
            <a:r>
              <a:rPr lang="en-US" sz="2400" dirty="0">
                <a:solidFill>
                  <a:srgbClr val="FF0000"/>
                </a:solidFill>
                <a:ea typeface="+mn-lt"/>
                <a:cs typeface="+mn-lt"/>
              </a:rPr>
              <a:t>Verified the daily time-series structure.</a:t>
            </a:r>
            <a:endParaRPr lang="en-US" dirty="0"/>
          </a:p>
          <a:p>
            <a:pPr algn="ctr">
              <a:buFont typeface="Arial"/>
              <a:buChar char="•"/>
            </a:pPr>
            <a:r>
              <a:rPr lang="en-US" sz="2400" dirty="0">
                <a:solidFill>
                  <a:srgbClr val="FF0000"/>
                </a:solidFill>
                <a:ea typeface="+mn-lt"/>
                <a:cs typeface="+mn-lt"/>
              </a:rPr>
              <a:t>Set Date as the time-series index.</a:t>
            </a:r>
            <a:endParaRPr lang="en-US" dirty="0"/>
          </a:p>
          <a:p>
            <a:pPr algn="ctr">
              <a:buFont typeface="Arial"/>
              <a:buChar char="•"/>
            </a:pPr>
            <a:r>
              <a:rPr lang="en-US" sz="2400" dirty="0">
                <a:solidFill>
                  <a:srgbClr val="FF0000"/>
                </a:solidFill>
                <a:ea typeface="+mn-lt"/>
                <a:cs typeface="+mn-lt"/>
              </a:rPr>
              <a:t>Interpolated missing values where necessary.</a:t>
            </a:r>
            <a:endParaRPr lang="en-US" dirty="0"/>
          </a:p>
          <a:p>
            <a:pPr algn="ctr">
              <a:buFont typeface="Arial"/>
              <a:buChar char="•"/>
            </a:pPr>
            <a:r>
              <a:rPr lang="en-US" sz="2400" dirty="0">
                <a:solidFill>
                  <a:srgbClr val="FF0000"/>
                </a:solidFill>
                <a:ea typeface="+mn-lt"/>
                <a:cs typeface="+mn-lt"/>
              </a:rPr>
              <a:t>Prepared the cleaned dataset for forecasting and machine learning.</a:t>
            </a:r>
            <a:endParaRPr lang="en-US" dirty="0"/>
          </a:p>
          <a:p>
            <a:pPr marL="0" indent="0" algn="ctr">
              <a:buNone/>
            </a:pPr>
            <a:endParaRPr lang="en-US" sz="2400" b="1" dirty="0">
              <a:solidFill>
                <a:srgbClr val="FF0000"/>
              </a:solidFill>
            </a:endParaRPr>
          </a:p>
          <a:p>
            <a:pPr marL="0" indent="0" algn="ctr">
              <a:buNone/>
            </a:pPr>
            <a:endParaRPr lang="en-US" sz="2400" b="1" dirty="0">
              <a:solidFill>
                <a:srgbClr val="FF0000"/>
              </a:solidFill>
            </a:endParaRPr>
          </a:p>
        </p:txBody>
      </p:sp>
      <p:sp>
        <p:nvSpPr>
          <p:cNvPr id="4" name="Text Placeholder 3">
            <a:extLst>
              <a:ext uri="{FF2B5EF4-FFF2-40B4-BE49-F238E27FC236}">
                <a16:creationId xmlns:a16="http://schemas.microsoft.com/office/drawing/2014/main" id="{CBDBD67B-D0E0-CA07-5976-20F26F4C874E}"/>
              </a:ext>
            </a:extLst>
          </p:cNvPr>
          <p:cNvSpPr>
            <a:spLocks noGrp="1"/>
          </p:cNvSpPr>
          <p:nvPr>
            <p:ph type="body" sz="half" idx="2"/>
          </p:nvPr>
        </p:nvSpPr>
        <p:spPr>
          <a:xfrm>
            <a:off x="9296400" y="460076"/>
            <a:ext cx="2430780" cy="5877463"/>
          </a:xfrm>
        </p:spPr>
        <p:txBody>
          <a:bodyPr vert="horz" lIns="91440" tIns="45720" rIns="91440" bIns="45720" rtlCol="0" anchor="t">
            <a:normAutofit/>
          </a:bodyPr>
          <a:lstStyle/>
          <a:p>
            <a:pPr algn="ctr"/>
            <a:r>
              <a:rPr lang="en-US" sz="2400" dirty="0"/>
              <a:t>Raw Data</a:t>
            </a:r>
            <a:endParaRPr lang="en-US"/>
          </a:p>
          <a:p>
            <a:pPr algn="ctr"/>
            <a:r>
              <a:rPr lang="en-US" sz="2400" dirty="0">
                <a:ea typeface="+mn-lt"/>
                <a:cs typeface="+mn-lt"/>
              </a:rPr>
              <a:t>↓</a:t>
            </a:r>
            <a:endParaRPr lang="en-US" sz="2400" dirty="0"/>
          </a:p>
          <a:p>
            <a:pPr algn="ctr"/>
            <a:r>
              <a:rPr lang="en-US" sz="2400" dirty="0"/>
              <a:t>Cleaning </a:t>
            </a:r>
          </a:p>
          <a:p>
            <a:pPr algn="ctr"/>
            <a:r>
              <a:rPr lang="en-US" sz="2400" dirty="0">
                <a:ea typeface="+mn-lt"/>
                <a:cs typeface="+mn-lt"/>
              </a:rPr>
              <a:t>↓</a:t>
            </a:r>
            <a:endParaRPr lang="en-US" sz="2400" dirty="0"/>
          </a:p>
          <a:p>
            <a:pPr algn="ctr"/>
            <a:r>
              <a:rPr lang="en-US" sz="2400" dirty="0"/>
              <a:t> Date Processing</a:t>
            </a:r>
          </a:p>
          <a:p>
            <a:pPr algn="ctr"/>
            <a:r>
              <a:rPr lang="en-US" sz="2400" dirty="0">
                <a:ea typeface="+mn-lt"/>
                <a:cs typeface="+mn-lt"/>
              </a:rPr>
              <a:t>↓</a:t>
            </a:r>
            <a:endParaRPr lang="en-US" sz="2400" dirty="0"/>
          </a:p>
          <a:p>
            <a:pPr algn="ctr"/>
            <a:r>
              <a:rPr lang="en-US" sz="2400" dirty="0"/>
              <a:t>  Numeric Conversion </a:t>
            </a:r>
          </a:p>
          <a:p>
            <a:pPr algn="ctr"/>
            <a:r>
              <a:rPr lang="en-US" sz="2400" dirty="0">
                <a:ea typeface="+mn-lt"/>
                <a:cs typeface="+mn-lt"/>
              </a:rPr>
              <a:t>↓</a:t>
            </a:r>
            <a:endParaRPr lang="en-US" sz="2400" dirty="0"/>
          </a:p>
          <a:p>
            <a:pPr algn="ctr"/>
            <a:r>
              <a:rPr lang="en-US" sz="2400" dirty="0"/>
              <a:t>Time Series Dataset</a:t>
            </a:r>
          </a:p>
        </p:txBody>
      </p:sp>
    </p:spTree>
    <p:extLst>
      <p:ext uri="{BB962C8B-B14F-4D97-AF65-F5344CB8AC3E}">
        <p14:creationId xmlns:p14="http://schemas.microsoft.com/office/powerpoint/2010/main" val="3404203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0A80C0-38A8-B5FD-03A6-9D49840733CA}"/>
              </a:ext>
            </a:extLst>
          </p:cNvPr>
          <p:cNvSpPr txBox="1"/>
          <p:nvPr/>
        </p:nvSpPr>
        <p:spPr>
          <a:xfrm>
            <a:off x="372661" y="592635"/>
            <a:ext cx="5610333"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rPr>
              <a:t>EXPLORATORY DATA ANALYSIS</a:t>
            </a:r>
            <a:endParaRPr lang="en-US" sz="2400"/>
          </a:p>
          <a:p>
            <a:r>
              <a:rPr lang="en-US" dirty="0">
                <a:ea typeface="+mn-lt"/>
                <a:cs typeface="+mn-lt"/>
              </a:rPr>
              <a:t>The traffic data was analyzed to understand its behavior over time.</a:t>
            </a:r>
            <a:endParaRPr lang="en-US" dirty="0"/>
          </a:p>
          <a:p>
            <a:r>
              <a:rPr lang="en-US" dirty="0"/>
              <a:t>Key Analysis</a:t>
            </a:r>
          </a:p>
          <a:p>
            <a:pPr marL="285750" indent="-285750">
              <a:buFont typeface="Arial"/>
              <a:buChar char="•"/>
            </a:pPr>
            <a:r>
              <a:rPr lang="en-US" dirty="0">
                <a:ea typeface="+mn-lt"/>
                <a:cs typeface="+mn-lt"/>
              </a:rPr>
              <a:t>Daily website traffic trend was visualized.</a:t>
            </a:r>
            <a:endParaRPr lang="en-US" dirty="0"/>
          </a:p>
          <a:p>
            <a:pPr marL="285750" indent="-285750">
              <a:buFont typeface="Arial"/>
              <a:buChar char="•"/>
            </a:pPr>
            <a:r>
              <a:rPr lang="en-US" dirty="0">
                <a:ea typeface="+mn-lt"/>
                <a:cs typeface="+mn-lt"/>
              </a:rPr>
              <a:t>Weekly traffic patterns were analyzed.</a:t>
            </a:r>
            <a:endParaRPr lang="en-US" dirty="0"/>
          </a:p>
          <a:p>
            <a:pPr marL="285750" indent="-285750">
              <a:buFont typeface="Arial"/>
              <a:buChar char="•"/>
            </a:pPr>
            <a:r>
              <a:rPr lang="en-US" dirty="0">
                <a:ea typeface="+mn-lt"/>
                <a:cs typeface="+mn-lt"/>
              </a:rPr>
              <a:t>Monthly traffic variations were studied.</a:t>
            </a:r>
            <a:endParaRPr lang="en-US" dirty="0"/>
          </a:p>
          <a:p>
            <a:pPr marL="285750" indent="-285750">
              <a:buFont typeface="Arial"/>
              <a:buChar char="•"/>
            </a:pPr>
            <a:r>
              <a:rPr lang="en-US" dirty="0">
                <a:ea typeface="+mn-lt"/>
                <a:cs typeface="+mn-lt"/>
              </a:rPr>
              <a:t>High and low traffic periods were identified.</a:t>
            </a:r>
            <a:endParaRPr lang="en-US" dirty="0"/>
          </a:p>
          <a:p>
            <a:pPr marL="285750" indent="-285750">
              <a:buFont typeface="Arial"/>
              <a:buChar char="•"/>
            </a:pPr>
            <a:r>
              <a:rPr lang="en-US" dirty="0">
                <a:ea typeface="+mn-lt"/>
                <a:cs typeface="+mn-lt"/>
              </a:rPr>
              <a:t>Historical patterns were used to design forecasting features.</a:t>
            </a:r>
            <a:endParaRPr lang="en-US" dirty="0"/>
          </a:p>
          <a:p>
            <a:r>
              <a:rPr lang="en-US" dirty="0"/>
              <a:t>Visualization</a:t>
            </a:r>
          </a:p>
          <a:p>
            <a:r>
              <a:rPr lang="en-US" dirty="0">
                <a:ea typeface="+mn-lt"/>
                <a:cs typeface="+mn-lt"/>
              </a:rPr>
              <a:t>Daily traffic shows noticeable variations and recurring patterns, which can be useful for forecasting future website traffic.</a:t>
            </a:r>
            <a:endParaRPr lang="en-US" dirty="0"/>
          </a:p>
          <a:p>
            <a:pPr algn="l"/>
            <a:endParaRPr lang="en-US" dirty="0"/>
          </a:p>
        </p:txBody>
      </p:sp>
      <p:pic>
        <p:nvPicPr>
          <p:cNvPr id="4" name="Picture 3">
            <a:extLst>
              <a:ext uri="{FF2B5EF4-FFF2-40B4-BE49-F238E27FC236}">
                <a16:creationId xmlns:a16="http://schemas.microsoft.com/office/drawing/2014/main" id="{9E4F498A-8F74-1D62-9A98-543B9CFF85A6}"/>
              </a:ext>
            </a:extLst>
          </p:cNvPr>
          <p:cNvPicPr>
            <a:picLocks noChangeAspect="1"/>
          </p:cNvPicPr>
          <p:nvPr/>
        </p:nvPicPr>
        <p:blipFill>
          <a:blip r:embed="rId2"/>
          <a:stretch>
            <a:fillRect/>
          </a:stretch>
        </p:blipFill>
        <p:spPr>
          <a:xfrm>
            <a:off x="6098786" y="1432523"/>
            <a:ext cx="5529712" cy="5013745"/>
          </a:xfrm>
          <a:prstGeom prst="rect">
            <a:avLst/>
          </a:prstGeom>
        </p:spPr>
      </p:pic>
    </p:spTree>
    <p:extLst>
      <p:ext uri="{BB962C8B-B14F-4D97-AF65-F5344CB8AC3E}">
        <p14:creationId xmlns:p14="http://schemas.microsoft.com/office/powerpoint/2010/main" val="1775499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3F1F1-E59A-4A35-9A29-EA0636688E26}"/>
              </a:ext>
            </a:extLst>
          </p:cNvPr>
          <p:cNvSpPr>
            <a:spLocks noGrp="1"/>
          </p:cNvSpPr>
          <p:nvPr>
            <p:ph type="title"/>
          </p:nvPr>
        </p:nvSpPr>
        <p:spPr>
          <a:xfrm>
            <a:off x="1066800" y="642594"/>
            <a:ext cx="10058400" cy="5641675"/>
          </a:xfrm>
        </p:spPr>
        <p:txBody>
          <a:bodyPr vert="horz" lIns="91440" tIns="45720" rIns="91440" bIns="45720" rtlCol="0" anchor="ctr">
            <a:noAutofit/>
          </a:bodyPr>
          <a:lstStyle/>
          <a:p>
            <a:pPr algn="ctr"/>
            <a:r>
              <a:rPr lang="en-US" sz="3600" b="1">
                <a:solidFill>
                  <a:srgbClr val="FF0000"/>
                </a:solidFill>
              </a:rPr>
              <a:t>FEATURE ENGINEERING</a:t>
            </a:r>
            <a:endParaRPr lang="en-US"/>
          </a:p>
          <a:p>
            <a:r>
              <a:rPr lang="en-US" sz="2400">
                <a:ea typeface="+mj-lt"/>
                <a:cs typeface="+mj-lt"/>
              </a:rPr>
              <a:t>Time-series features were created to help machine-learning models learn historical traffic patterns.</a:t>
            </a:r>
            <a:endParaRPr lang="en-US" sz="2400"/>
          </a:p>
          <a:p>
            <a:pPr algn="ctr"/>
            <a:r>
              <a:rPr lang="en-US" sz="2800" b="1">
                <a:solidFill>
                  <a:srgbClr val="FF0000"/>
                </a:solidFill>
              </a:rPr>
              <a:t>Lag Features</a:t>
            </a:r>
          </a:p>
          <a:p>
            <a:r>
              <a:rPr lang="en-US" sz="2800">
                <a:ea typeface="+mj-lt"/>
                <a:cs typeface="+mj-lt"/>
              </a:rPr>
              <a:t>Lag 1</a:t>
            </a:r>
            <a:endParaRPr lang="en-US" sz="2800"/>
          </a:p>
          <a:p>
            <a:r>
              <a:rPr lang="en-US" sz="2800">
                <a:ea typeface="+mj-lt"/>
                <a:cs typeface="+mj-lt"/>
              </a:rPr>
              <a:t>Lag 2</a:t>
            </a:r>
            <a:endParaRPr lang="en-US" sz="2800"/>
          </a:p>
          <a:p>
            <a:r>
              <a:rPr lang="en-US" sz="2800">
                <a:ea typeface="+mj-lt"/>
                <a:cs typeface="+mj-lt"/>
              </a:rPr>
              <a:t>Lag 3</a:t>
            </a:r>
            <a:endParaRPr lang="en-US" sz="2800"/>
          </a:p>
          <a:p>
            <a:r>
              <a:rPr lang="en-US" sz="2800">
                <a:ea typeface="+mj-lt"/>
                <a:cs typeface="+mj-lt"/>
              </a:rPr>
              <a:t>Lag 7</a:t>
            </a:r>
            <a:endParaRPr lang="en-US" sz="2800"/>
          </a:p>
          <a:p>
            <a:r>
              <a:rPr lang="en-US" sz="2800">
                <a:ea typeface="+mj-lt"/>
                <a:cs typeface="+mj-lt"/>
              </a:rPr>
              <a:t>Lag 14</a:t>
            </a:r>
            <a:endParaRPr lang="en-US" sz="2800"/>
          </a:p>
          <a:p>
            <a:r>
              <a:rPr lang="en-US" sz="2800">
                <a:ea typeface="+mj-lt"/>
                <a:cs typeface="+mj-lt"/>
              </a:rPr>
              <a:t>Lag 21</a:t>
            </a:r>
            <a:endParaRPr lang="en-US" sz="2800"/>
          </a:p>
          <a:p>
            <a:r>
              <a:rPr lang="en-US" sz="2800">
                <a:ea typeface="+mj-lt"/>
                <a:cs typeface="+mj-lt"/>
              </a:rPr>
              <a:t>Lag 28</a:t>
            </a:r>
            <a:endParaRPr lang="en-US" sz="2800"/>
          </a:p>
          <a:p>
            <a:pPr algn="ctr"/>
            <a:r>
              <a:rPr lang="en-US" sz="2000" b="1">
                <a:solidFill>
                  <a:srgbClr val="FF0000"/>
                </a:solidFill>
              </a:rPr>
              <a:t>#Rolling Features</a:t>
            </a:r>
          </a:p>
          <a:p>
            <a:r>
              <a:rPr lang="en-US" sz="2000">
                <a:ea typeface="+mj-lt"/>
                <a:cs typeface="+mj-lt"/>
              </a:rPr>
              <a:t>7-day rolling mean and standard deviation</a:t>
            </a:r>
            <a:endParaRPr lang="en-US" sz="2000"/>
          </a:p>
          <a:p>
            <a:r>
              <a:rPr lang="en-US" sz="2000">
                <a:ea typeface="+mj-lt"/>
                <a:cs typeface="+mj-lt"/>
              </a:rPr>
              <a:t>14-day rolling mean and standard deviation</a:t>
            </a:r>
            <a:endParaRPr lang="en-US" sz="2000"/>
          </a:p>
          <a:p>
            <a:r>
              <a:rPr lang="en-US" sz="2000">
                <a:ea typeface="+mj-lt"/>
                <a:cs typeface="+mj-lt"/>
              </a:rPr>
              <a:t>28-day rolling mean and standard deviation</a:t>
            </a:r>
            <a:endParaRPr lang="en-US" sz="2000"/>
          </a:p>
          <a:p>
            <a:endParaRPr lang="en-US" sz="2000"/>
          </a:p>
          <a:p>
            <a:endParaRPr lang="en-US" sz="2400"/>
          </a:p>
        </p:txBody>
      </p:sp>
    </p:spTree>
    <p:extLst>
      <p:ext uri="{BB962C8B-B14F-4D97-AF65-F5344CB8AC3E}">
        <p14:creationId xmlns:p14="http://schemas.microsoft.com/office/powerpoint/2010/main" val="746224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22F98A-1A02-ED87-4993-9AB51E9FE86A}"/>
              </a:ext>
            </a:extLst>
          </p:cNvPr>
          <p:cNvSpPr txBox="1"/>
          <p:nvPr/>
        </p:nvSpPr>
        <p:spPr>
          <a:xfrm>
            <a:off x="822960" y="624840"/>
            <a:ext cx="10713720"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FORECASTING &amp; MACHINE LEARNING MODELS</a:t>
            </a:r>
          </a:p>
          <a:p>
            <a:r>
              <a:rPr lang="en-US" sz="2000" dirty="0">
                <a:ea typeface="+mn-lt"/>
                <a:cs typeface="+mn-lt"/>
              </a:rPr>
              <a:t>Multiple approaches were evaluated to identify the most suitable forecasting model.</a:t>
            </a:r>
            <a:endParaRPr lang="en-US" sz="2000" dirty="0"/>
          </a:p>
          <a:p>
            <a:r>
              <a:rPr lang="en-US" sz="2000" dirty="0"/>
              <a:t>Models Used</a:t>
            </a:r>
          </a:p>
          <a:p>
            <a:r>
              <a:rPr lang="en-US" sz="2000" b="1" dirty="0">
                <a:ea typeface="+mn-lt"/>
                <a:cs typeface="+mn-lt"/>
              </a:rPr>
              <a:t>Time-Series Approaches</a:t>
            </a:r>
            <a:endParaRPr lang="en-US" sz="2000" dirty="0"/>
          </a:p>
          <a:p>
            <a:pPr marL="285750" indent="-285750">
              <a:buFont typeface="Arial"/>
              <a:buChar char="•"/>
            </a:pPr>
            <a:r>
              <a:rPr lang="en-US" sz="2000" dirty="0">
                <a:ea typeface="+mn-lt"/>
                <a:cs typeface="+mn-lt"/>
              </a:rPr>
              <a:t>Weekly Seasonal Naive</a:t>
            </a:r>
            <a:endParaRPr lang="en-US" sz="2000" dirty="0"/>
          </a:p>
          <a:p>
            <a:pPr marL="285750" indent="-285750">
              <a:buFont typeface="Arial"/>
              <a:buChar char="•"/>
            </a:pPr>
            <a:r>
              <a:rPr lang="en-US" sz="2000" dirty="0">
                <a:ea typeface="+mn-lt"/>
                <a:cs typeface="+mn-lt"/>
              </a:rPr>
              <a:t>Holt-Winters Exponential Smoothing</a:t>
            </a:r>
            <a:endParaRPr lang="en-US" sz="2000" dirty="0"/>
          </a:p>
          <a:p>
            <a:r>
              <a:rPr lang="en-US" sz="2000" b="1" dirty="0">
                <a:ea typeface="+mn-lt"/>
                <a:cs typeface="+mn-lt"/>
              </a:rPr>
              <a:t>Machine Learning Approaches</a:t>
            </a:r>
            <a:endParaRPr lang="en-US" sz="2000" dirty="0"/>
          </a:p>
          <a:p>
            <a:pPr marL="285750" indent="-285750">
              <a:buFont typeface="Arial"/>
              <a:buChar char="•"/>
            </a:pPr>
            <a:r>
              <a:rPr lang="en-US" sz="2000" dirty="0">
                <a:ea typeface="+mn-lt"/>
                <a:cs typeface="+mn-lt"/>
              </a:rPr>
              <a:t>Random Forest Regressor</a:t>
            </a:r>
            <a:endParaRPr lang="en-US" sz="2000" dirty="0"/>
          </a:p>
          <a:p>
            <a:pPr marL="285750" indent="-285750">
              <a:buFont typeface="Arial"/>
              <a:buChar char="•"/>
            </a:pPr>
            <a:r>
              <a:rPr lang="en-US" sz="2000" dirty="0">
                <a:ea typeface="+mn-lt"/>
                <a:cs typeface="+mn-lt"/>
              </a:rPr>
              <a:t>Extra Trees Regressor</a:t>
            </a:r>
            <a:endParaRPr lang="en-US" sz="2000" dirty="0"/>
          </a:p>
          <a:p>
            <a:pPr marL="285750" indent="-285750">
              <a:buFont typeface="Arial"/>
              <a:buChar char="•"/>
            </a:pPr>
            <a:r>
              <a:rPr lang="en-US" sz="2000" dirty="0" err="1">
                <a:ea typeface="+mn-lt"/>
                <a:cs typeface="+mn-lt"/>
              </a:rPr>
              <a:t>HistGradientBoosting</a:t>
            </a:r>
            <a:r>
              <a:rPr lang="en-US" sz="2000" dirty="0">
                <a:ea typeface="+mn-lt"/>
                <a:cs typeface="+mn-lt"/>
              </a:rPr>
              <a:t> Regressor</a:t>
            </a:r>
            <a:endParaRPr lang="en-US" sz="2000" dirty="0"/>
          </a:p>
          <a:p>
            <a:r>
              <a:rPr lang="en-US" sz="2000" dirty="0"/>
              <a:t>Data Split</a:t>
            </a:r>
          </a:p>
          <a:p>
            <a:r>
              <a:rPr lang="en-US" sz="2000" dirty="0">
                <a:ea typeface="+mn-lt"/>
                <a:cs typeface="+mn-lt"/>
              </a:rPr>
              <a:t>The dataset was divided chronologically into:</a:t>
            </a:r>
            <a:endParaRPr lang="en-US" sz="2000" dirty="0"/>
          </a:p>
          <a:p>
            <a:pPr marL="285750" indent="-285750">
              <a:buFont typeface="Arial"/>
              <a:buChar char="•"/>
            </a:pPr>
            <a:r>
              <a:rPr lang="en-US" sz="2000" b="1" dirty="0">
                <a:ea typeface="+mn-lt"/>
                <a:cs typeface="+mn-lt"/>
              </a:rPr>
              <a:t>80% Training Data</a:t>
            </a:r>
            <a:endParaRPr lang="en-US" sz="2000" dirty="0"/>
          </a:p>
          <a:p>
            <a:pPr marL="285750" indent="-285750">
              <a:buFont typeface="Arial"/>
              <a:buChar char="•"/>
            </a:pPr>
            <a:r>
              <a:rPr lang="en-US" sz="2000" b="1" dirty="0">
                <a:ea typeface="+mn-lt"/>
                <a:cs typeface="+mn-lt"/>
              </a:rPr>
              <a:t>20% Testing Data</a:t>
            </a:r>
            <a:endParaRPr lang="en-US" sz="2000" dirty="0"/>
          </a:p>
          <a:p>
            <a:r>
              <a:rPr lang="en-US" sz="2000" dirty="0">
                <a:ea typeface="+mn-lt"/>
                <a:cs typeface="+mn-lt"/>
              </a:rPr>
              <a:t>A chronological split was used to avoid future information being used during training.</a:t>
            </a:r>
            <a:endParaRPr lang="en-US" sz="2000" dirty="0"/>
          </a:p>
          <a:p>
            <a:pPr algn="l"/>
            <a:endParaRPr lang="en-US" dirty="0"/>
          </a:p>
        </p:txBody>
      </p:sp>
    </p:spTree>
    <p:extLst>
      <p:ext uri="{BB962C8B-B14F-4D97-AF65-F5344CB8AC3E}">
        <p14:creationId xmlns:p14="http://schemas.microsoft.com/office/powerpoint/2010/main" val="3793850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4A7CB8E-3A06-EC7B-FE15-50C501D306D4}"/>
              </a:ext>
            </a:extLst>
          </p:cNvPr>
          <p:cNvGraphicFramePr>
            <a:graphicFrameLocks noGrp="1"/>
          </p:cNvGraphicFramePr>
          <p:nvPr>
            <p:extLst>
              <p:ext uri="{D42A27DB-BD31-4B8C-83A1-F6EECF244321}">
                <p14:modId xmlns:p14="http://schemas.microsoft.com/office/powerpoint/2010/main" val="2546162697"/>
              </p:ext>
            </p:extLst>
          </p:nvPr>
        </p:nvGraphicFramePr>
        <p:xfrm>
          <a:off x="833886" y="3623093"/>
          <a:ext cx="9707764" cy="2484116"/>
        </p:xfrm>
        <a:graphic>
          <a:graphicData uri="http://schemas.openxmlformats.org/drawingml/2006/table">
            <a:tbl>
              <a:tblPr bandRow="1">
                <a:tableStyleId>{5C22544A-7EE6-4342-B048-85BDC9FD1C3A}</a:tableStyleId>
              </a:tblPr>
              <a:tblGrid>
                <a:gridCol w="2426941">
                  <a:extLst>
                    <a:ext uri="{9D8B030D-6E8A-4147-A177-3AD203B41FA5}">
                      <a16:colId xmlns:a16="http://schemas.microsoft.com/office/drawing/2014/main" val="2215757195"/>
                    </a:ext>
                  </a:extLst>
                </a:gridCol>
                <a:gridCol w="2426941">
                  <a:extLst>
                    <a:ext uri="{9D8B030D-6E8A-4147-A177-3AD203B41FA5}">
                      <a16:colId xmlns:a16="http://schemas.microsoft.com/office/drawing/2014/main" val="2967983626"/>
                    </a:ext>
                  </a:extLst>
                </a:gridCol>
                <a:gridCol w="2426941">
                  <a:extLst>
                    <a:ext uri="{9D8B030D-6E8A-4147-A177-3AD203B41FA5}">
                      <a16:colId xmlns:a16="http://schemas.microsoft.com/office/drawing/2014/main" val="2564064218"/>
                    </a:ext>
                  </a:extLst>
                </a:gridCol>
                <a:gridCol w="2426941">
                  <a:extLst>
                    <a:ext uri="{9D8B030D-6E8A-4147-A177-3AD203B41FA5}">
                      <a16:colId xmlns:a16="http://schemas.microsoft.com/office/drawing/2014/main" val="3432532190"/>
                    </a:ext>
                  </a:extLst>
                </a:gridCol>
              </a:tblGrid>
              <a:tr h="368017">
                <a:tc>
                  <a:txBody>
                    <a:bodyPr/>
                    <a:lstStyle/>
                    <a:p>
                      <a:pPr>
                        <a:buNone/>
                      </a:pPr>
                      <a:r>
                        <a:rPr lang="en-US" dirty="0"/>
                        <a:t>Model</a:t>
                      </a:r>
                    </a:p>
                  </a:txBody>
                  <a:tcPr anchor="ctr">
                    <a:lnL>
                      <a:noFill/>
                    </a:lnL>
                    <a:lnR>
                      <a:noFill/>
                    </a:lnR>
                    <a:lnT>
                      <a:noFill/>
                    </a:lnT>
                    <a:lnB>
                      <a:noFill/>
                    </a:lnB>
                    <a:noFill/>
                  </a:tcPr>
                </a:tc>
                <a:tc>
                  <a:txBody>
                    <a:bodyPr/>
                    <a:lstStyle/>
                    <a:p>
                      <a:pPr algn="r">
                        <a:buNone/>
                      </a:pPr>
                      <a:r>
                        <a:rPr lang="en-US" dirty="0"/>
                        <a:t>RMSE</a:t>
                      </a:r>
                    </a:p>
                  </a:txBody>
                  <a:tcPr anchor="ctr">
                    <a:lnL>
                      <a:noFill/>
                    </a:lnL>
                    <a:lnR>
                      <a:noFill/>
                    </a:lnR>
                    <a:lnT>
                      <a:noFill/>
                    </a:lnT>
                    <a:lnB>
                      <a:noFill/>
                    </a:lnB>
                    <a:noFill/>
                  </a:tcPr>
                </a:tc>
                <a:tc>
                  <a:txBody>
                    <a:bodyPr/>
                    <a:lstStyle/>
                    <a:p>
                      <a:pPr algn="r">
                        <a:buNone/>
                      </a:pPr>
                      <a:r>
                        <a:rPr lang="en-US" dirty="0"/>
                        <a:t>MAE</a:t>
                      </a:r>
                    </a:p>
                  </a:txBody>
                  <a:tcPr anchor="ctr">
                    <a:lnL>
                      <a:noFill/>
                    </a:lnL>
                    <a:lnR>
                      <a:noFill/>
                    </a:lnR>
                    <a:lnT>
                      <a:noFill/>
                    </a:lnT>
                    <a:lnB>
                      <a:noFill/>
                    </a:lnB>
                    <a:noFill/>
                  </a:tcPr>
                </a:tc>
                <a:tc>
                  <a:txBody>
                    <a:bodyPr/>
                    <a:lstStyle/>
                    <a:p>
                      <a:pPr algn="r">
                        <a:buNone/>
                      </a:pPr>
                      <a:r>
                        <a:rPr lang="en-US" dirty="0"/>
                        <a:t>MAPE</a:t>
                      </a:r>
                    </a:p>
                  </a:txBody>
                  <a:tcPr anchor="ctr">
                    <a:lnL>
                      <a:noFill/>
                    </a:lnL>
                    <a:lnR>
                      <a:noFill/>
                    </a:lnR>
                    <a:lnT>
                      <a:noFill/>
                    </a:lnT>
                    <a:lnB>
                      <a:noFill/>
                    </a:lnB>
                    <a:noFill/>
                  </a:tcPr>
                </a:tc>
                <a:extLst>
                  <a:ext uri="{0D108BD9-81ED-4DB2-BD59-A6C34878D82A}">
                    <a16:rowId xmlns:a16="http://schemas.microsoft.com/office/drawing/2014/main" val="1627773577"/>
                  </a:ext>
                </a:extLst>
              </a:tr>
              <a:tr h="368017">
                <a:tc>
                  <a:txBody>
                    <a:bodyPr/>
                    <a:lstStyle/>
                    <a:p>
                      <a:pPr>
                        <a:buNone/>
                      </a:pPr>
                      <a:r>
                        <a:rPr lang="en-US" dirty="0"/>
                        <a:t>Weekly Naive</a:t>
                      </a:r>
                    </a:p>
                  </a:txBody>
                  <a:tcPr anchor="ctr">
                    <a:lnL>
                      <a:noFill/>
                    </a:lnL>
                    <a:lnR>
                      <a:noFill/>
                    </a:lnR>
                    <a:lnT>
                      <a:noFill/>
                    </a:lnT>
                    <a:lnB>
                      <a:noFill/>
                    </a:lnB>
                    <a:noFill/>
                  </a:tcPr>
                </a:tc>
                <a:tc>
                  <a:txBody>
                    <a:bodyPr/>
                    <a:lstStyle/>
                    <a:p>
                      <a:pPr algn="r">
                        <a:buNone/>
                      </a:pPr>
                      <a:r>
                        <a:rPr lang="en-US" dirty="0"/>
                        <a:t>615.07</a:t>
                      </a:r>
                    </a:p>
                  </a:txBody>
                  <a:tcPr anchor="ctr">
                    <a:lnL>
                      <a:noFill/>
                    </a:lnL>
                    <a:lnR>
                      <a:noFill/>
                    </a:lnR>
                    <a:lnT>
                      <a:noFill/>
                    </a:lnT>
                    <a:lnB>
                      <a:noFill/>
                    </a:lnB>
                    <a:noFill/>
                  </a:tcPr>
                </a:tc>
                <a:tc>
                  <a:txBody>
                    <a:bodyPr/>
                    <a:lstStyle/>
                    <a:p>
                      <a:pPr algn="r">
                        <a:buNone/>
                      </a:pPr>
                      <a:r>
                        <a:rPr lang="en-US" dirty="0"/>
                        <a:t>407.84</a:t>
                      </a:r>
                    </a:p>
                  </a:txBody>
                  <a:tcPr anchor="ctr">
                    <a:lnL>
                      <a:noFill/>
                    </a:lnL>
                    <a:lnR>
                      <a:noFill/>
                    </a:lnR>
                    <a:lnT>
                      <a:noFill/>
                    </a:lnT>
                    <a:lnB>
                      <a:noFill/>
                    </a:lnB>
                    <a:noFill/>
                  </a:tcPr>
                </a:tc>
                <a:tc>
                  <a:txBody>
                    <a:bodyPr/>
                    <a:lstStyle/>
                    <a:p>
                      <a:pPr algn="r">
                        <a:buNone/>
                      </a:pPr>
                      <a:r>
                        <a:rPr lang="en-US" dirty="0"/>
                        <a:t>11.28%</a:t>
                      </a:r>
                    </a:p>
                  </a:txBody>
                  <a:tcPr anchor="ctr">
                    <a:lnL>
                      <a:noFill/>
                    </a:lnL>
                    <a:lnR>
                      <a:noFill/>
                    </a:lnR>
                    <a:lnT>
                      <a:noFill/>
                    </a:lnT>
                    <a:lnB>
                      <a:noFill/>
                    </a:lnB>
                    <a:noFill/>
                  </a:tcPr>
                </a:tc>
                <a:extLst>
                  <a:ext uri="{0D108BD9-81ED-4DB2-BD59-A6C34878D82A}">
                    <a16:rowId xmlns:a16="http://schemas.microsoft.com/office/drawing/2014/main" val="1352645260"/>
                  </a:ext>
                </a:extLst>
              </a:tr>
              <a:tr h="368017">
                <a:tc>
                  <a:txBody>
                    <a:bodyPr/>
                    <a:lstStyle/>
                    <a:p>
                      <a:pPr>
                        <a:buNone/>
                      </a:pPr>
                      <a:r>
                        <a:rPr lang="en-US" dirty="0"/>
                        <a:t>Holt-Winters</a:t>
                      </a:r>
                    </a:p>
                  </a:txBody>
                  <a:tcPr anchor="ctr">
                    <a:lnL>
                      <a:noFill/>
                    </a:lnL>
                    <a:lnR>
                      <a:noFill/>
                    </a:lnR>
                    <a:lnT>
                      <a:noFill/>
                    </a:lnT>
                    <a:lnB>
                      <a:noFill/>
                    </a:lnB>
                    <a:noFill/>
                  </a:tcPr>
                </a:tc>
                <a:tc>
                  <a:txBody>
                    <a:bodyPr/>
                    <a:lstStyle/>
                    <a:p>
                      <a:pPr algn="r">
                        <a:buNone/>
                      </a:pPr>
                      <a:r>
                        <a:rPr lang="en-US" dirty="0"/>
                        <a:t>1413.52</a:t>
                      </a:r>
                    </a:p>
                  </a:txBody>
                  <a:tcPr anchor="ctr">
                    <a:lnL>
                      <a:noFill/>
                    </a:lnL>
                    <a:lnR>
                      <a:noFill/>
                    </a:lnR>
                    <a:lnT>
                      <a:noFill/>
                    </a:lnT>
                    <a:lnB>
                      <a:noFill/>
                    </a:lnB>
                    <a:noFill/>
                  </a:tcPr>
                </a:tc>
                <a:tc>
                  <a:txBody>
                    <a:bodyPr/>
                    <a:lstStyle/>
                    <a:p>
                      <a:pPr algn="r">
                        <a:buNone/>
                      </a:pPr>
                      <a:r>
                        <a:rPr lang="en-US" dirty="0"/>
                        <a:t>1161.29</a:t>
                      </a:r>
                    </a:p>
                  </a:txBody>
                  <a:tcPr anchor="ctr">
                    <a:lnL>
                      <a:noFill/>
                    </a:lnL>
                    <a:lnR>
                      <a:noFill/>
                    </a:lnR>
                    <a:lnT>
                      <a:noFill/>
                    </a:lnT>
                    <a:lnB>
                      <a:noFill/>
                    </a:lnB>
                    <a:noFill/>
                  </a:tcPr>
                </a:tc>
                <a:tc>
                  <a:txBody>
                    <a:bodyPr/>
                    <a:lstStyle/>
                    <a:p>
                      <a:pPr algn="r">
                        <a:buNone/>
                      </a:pPr>
                      <a:r>
                        <a:rPr lang="en-US" dirty="0"/>
                        <a:t>28.84%</a:t>
                      </a:r>
                    </a:p>
                  </a:txBody>
                  <a:tcPr anchor="ctr">
                    <a:lnL>
                      <a:noFill/>
                    </a:lnL>
                    <a:lnR>
                      <a:noFill/>
                    </a:lnR>
                    <a:lnT>
                      <a:noFill/>
                    </a:lnT>
                    <a:lnB>
                      <a:noFill/>
                    </a:lnB>
                    <a:noFill/>
                  </a:tcPr>
                </a:tc>
                <a:extLst>
                  <a:ext uri="{0D108BD9-81ED-4DB2-BD59-A6C34878D82A}">
                    <a16:rowId xmlns:a16="http://schemas.microsoft.com/office/drawing/2014/main" val="422753439"/>
                  </a:ext>
                </a:extLst>
              </a:tr>
              <a:tr h="368017">
                <a:tc>
                  <a:txBody>
                    <a:bodyPr/>
                    <a:lstStyle/>
                    <a:p>
                      <a:pPr>
                        <a:buNone/>
                      </a:pPr>
                      <a:r>
                        <a:rPr lang="en-US" dirty="0"/>
                        <a:t>Random Forest</a:t>
                      </a:r>
                    </a:p>
                  </a:txBody>
                  <a:tcPr anchor="ctr">
                    <a:lnL>
                      <a:noFill/>
                    </a:lnL>
                    <a:lnR>
                      <a:noFill/>
                    </a:lnR>
                    <a:lnT>
                      <a:noFill/>
                    </a:lnT>
                    <a:lnB>
                      <a:noFill/>
                    </a:lnB>
                    <a:noFill/>
                  </a:tcPr>
                </a:tc>
                <a:tc>
                  <a:txBody>
                    <a:bodyPr/>
                    <a:lstStyle/>
                    <a:p>
                      <a:pPr algn="r">
                        <a:buNone/>
                      </a:pPr>
                      <a:r>
                        <a:rPr lang="en-US" dirty="0"/>
                        <a:t>372.31</a:t>
                      </a:r>
                    </a:p>
                  </a:txBody>
                  <a:tcPr anchor="ctr">
                    <a:lnL>
                      <a:noFill/>
                    </a:lnL>
                    <a:lnR>
                      <a:noFill/>
                    </a:lnR>
                    <a:lnT>
                      <a:noFill/>
                    </a:lnT>
                    <a:lnB>
                      <a:noFill/>
                    </a:lnB>
                    <a:noFill/>
                  </a:tcPr>
                </a:tc>
                <a:tc>
                  <a:txBody>
                    <a:bodyPr/>
                    <a:lstStyle/>
                    <a:p>
                      <a:pPr algn="r">
                        <a:buNone/>
                      </a:pPr>
                      <a:r>
                        <a:rPr lang="en-US" dirty="0"/>
                        <a:t>278.77</a:t>
                      </a:r>
                    </a:p>
                  </a:txBody>
                  <a:tcPr anchor="ctr">
                    <a:lnL>
                      <a:noFill/>
                    </a:lnL>
                    <a:lnR>
                      <a:noFill/>
                    </a:lnR>
                    <a:lnT>
                      <a:noFill/>
                    </a:lnT>
                    <a:lnB>
                      <a:noFill/>
                    </a:lnB>
                    <a:noFill/>
                  </a:tcPr>
                </a:tc>
                <a:tc>
                  <a:txBody>
                    <a:bodyPr/>
                    <a:lstStyle/>
                    <a:p>
                      <a:pPr algn="r">
                        <a:buNone/>
                      </a:pPr>
                      <a:r>
                        <a:rPr lang="en-US" dirty="0"/>
                        <a:t>7.71%</a:t>
                      </a:r>
                    </a:p>
                  </a:txBody>
                  <a:tcPr anchor="ctr">
                    <a:lnL>
                      <a:noFill/>
                    </a:lnL>
                    <a:lnR>
                      <a:noFill/>
                    </a:lnR>
                    <a:lnT>
                      <a:noFill/>
                    </a:lnT>
                    <a:lnB>
                      <a:noFill/>
                    </a:lnB>
                    <a:noFill/>
                  </a:tcPr>
                </a:tc>
                <a:extLst>
                  <a:ext uri="{0D108BD9-81ED-4DB2-BD59-A6C34878D82A}">
                    <a16:rowId xmlns:a16="http://schemas.microsoft.com/office/drawing/2014/main" val="174833297"/>
                  </a:ext>
                </a:extLst>
              </a:tr>
              <a:tr h="644031">
                <a:tc>
                  <a:txBody>
                    <a:bodyPr/>
                    <a:lstStyle/>
                    <a:p>
                      <a:pPr>
                        <a:buNone/>
                      </a:pPr>
                      <a:r>
                        <a:rPr lang="en-US" dirty="0" err="1"/>
                        <a:t>HistGradientBoosting</a:t>
                      </a:r>
                    </a:p>
                  </a:txBody>
                  <a:tcPr anchor="ctr">
                    <a:lnL>
                      <a:noFill/>
                    </a:lnL>
                    <a:lnR>
                      <a:noFill/>
                    </a:lnR>
                    <a:lnT>
                      <a:noFill/>
                    </a:lnT>
                    <a:lnB>
                      <a:noFill/>
                    </a:lnB>
                    <a:noFill/>
                  </a:tcPr>
                </a:tc>
                <a:tc>
                  <a:txBody>
                    <a:bodyPr/>
                    <a:lstStyle/>
                    <a:p>
                      <a:pPr algn="r">
                        <a:buNone/>
                      </a:pPr>
                      <a:r>
                        <a:rPr lang="en-US" dirty="0"/>
                        <a:t>349.42</a:t>
                      </a:r>
                    </a:p>
                  </a:txBody>
                  <a:tcPr anchor="ctr">
                    <a:lnL>
                      <a:noFill/>
                    </a:lnL>
                    <a:lnR>
                      <a:noFill/>
                    </a:lnR>
                    <a:lnT>
                      <a:noFill/>
                    </a:lnT>
                    <a:lnB>
                      <a:noFill/>
                    </a:lnB>
                    <a:noFill/>
                  </a:tcPr>
                </a:tc>
                <a:tc>
                  <a:txBody>
                    <a:bodyPr/>
                    <a:lstStyle/>
                    <a:p>
                      <a:pPr algn="r">
                        <a:buNone/>
                      </a:pPr>
                      <a:r>
                        <a:rPr lang="en-US" dirty="0"/>
                        <a:t>255.97</a:t>
                      </a:r>
                    </a:p>
                  </a:txBody>
                  <a:tcPr anchor="ctr">
                    <a:lnL>
                      <a:noFill/>
                    </a:lnL>
                    <a:lnR>
                      <a:noFill/>
                    </a:lnR>
                    <a:lnT>
                      <a:noFill/>
                    </a:lnT>
                    <a:lnB>
                      <a:noFill/>
                    </a:lnB>
                    <a:noFill/>
                  </a:tcPr>
                </a:tc>
                <a:tc>
                  <a:txBody>
                    <a:bodyPr/>
                    <a:lstStyle/>
                    <a:p>
                      <a:pPr algn="r">
                        <a:buNone/>
                      </a:pPr>
                      <a:r>
                        <a:rPr lang="en-US" dirty="0"/>
                        <a:t>6.86%</a:t>
                      </a:r>
                    </a:p>
                  </a:txBody>
                  <a:tcPr anchor="ctr">
                    <a:lnL>
                      <a:noFill/>
                    </a:lnL>
                    <a:lnR>
                      <a:noFill/>
                    </a:lnR>
                    <a:lnT>
                      <a:noFill/>
                    </a:lnT>
                    <a:lnB>
                      <a:noFill/>
                    </a:lnB>
                    <a:noFill/>
                  </a:tcPr>
                </a:tc>
                <a:extLst>
                  <a:ext uri="{0D108BD9-81ED-4DB2-BD59-A6C34878D82A}">
                    <a16:rowId xmlns:a16="http://schemas.microsoft.com/office/drawing/2014/main" val="2287738957"/>
                  </a:ext>
                </a:extLst>
              </a:tr>
              <a:tr h="368017">
                <a:tc>
                  <a:txBody>
                    <a:bodyPr/>
                    <a:lstStyle/>
                    <a:p>
                      <a:pPr>
                        <a:buNone/>
                      </a:pPr>
                      <a:r>
                        <a:rPr lang="en-US" dirty="0"/>
                        <a:t>Extra Trees</a:t>
                      </a:r>
                    </a:p>
                  </a:txBody>
                  <a:tcPr anchor="ctr">
                    <a:lnL>
                      <a:noFill/>
                    </a:lnL>
                    <a:lnR>
                      <a:noFill/>
                    </a:lnR>
                    <a:lnT>
                      <a:noFill/>
                    </a:lnT>
                    <a:lnB>
                      <a:noFill/>
                    </a:lnB>
                    <a:noFill/>
                  </a:tcPr>
                </a:tc>
                <a:tc>
                  <a:txBody>
                    <a:bodyPr/>
                    <a:lstStyle/>
                    <a:p>
                      <a:pPr algn="r">
                        <a:buNone/>
                      </a:pPr>
                      <a:r>
                        <a:rPr lang="en-US" b="1" dirty="0"/>
                        <a:t>347.28</a:t>
                      </a:r>
                      <a:endParaRPr lang="en-US" dirty="0"/>
                    </a:p>
                  </a:txBody>
                  <a:tcPr anchor="ctr">
                    <a:lnL>
                      <a:noFill/>
                    </a:lnL>
                    <a:lnR>
                      <a:noFill/>
                    </a:lnR>
                    <a:lnT>
                      <a:noFill/>
                    </a:lnT>
                    <a:lnB>
                      <a:noFill/>
                    </a:lnB>
                    <a:noFill/>
                  </a:tcPr>
                </a:tc>
                <a:tc>
                  <a:txBody>
                    <a:bodyPr/>
                    <a:lstStyle/>
                    <a:p>
                      <a:pPr algn="r">
                        <a:buNone/>
                      </a:pPr>
                      <a:r>
                        <a:rPr lang="en-US" b="1" dirty="0"/>
                        <a:t>254.97</a:t>
                      </a:r>
                      <a:endParaRPr lang="en-US" dirty="0"/>
                    </a:p>
                  </a:txBody>
                  <a:tcPr anchor="ctr">
                    <a:lnL>
                      <a:noFill/>
                    </a:lnL>
                    <a:lnR>
                      <a:noFill/>
                    </a:lnR>
                    <a:lnT>
                      <a:noFill/>
                    </a:lnT>
                    <a:lnB>
                      <a:noFill/>
                    </a:lnB>
                    <a:noFill/>
                  </a:tcPr>
                </a:tc>
                <a:tc>
                  <a:txBody>
                    <a:bodyPr/>
                    <a:lstStyle/>
                    <a:p>
                      <a:pPr algn="r">
                        <a:buNone/>
                      </a:pPr>
                      <a:r>
                        <a:rPr lang="en-US" b="1" dirty="0"/>
                        <a:t>6.86%</a:t>
                      </a:r>
                      <a:endParaRPr lang="en-US" dirty="0"/>
                    </a:p>
                  </a:txBody>
                  <a:tcPr anchor="ctr">
                    <a:lnL>
                      <a:noFill/>
                    </a:lnL>
                    <a:lnR>
                      <a:noFill/>
                    </a:lnR>
                    <a:lnT>
                      <a:noFill/>
                    </a:lnT>
                    <a:lnB>
                      <a:noFill/>
                    </a:lnB>
                    <a:noFill/>
                  </a:tcPr>
                </a:tc>
                <a:extLst>
                  <a:ext uri="{0D108BD9-81ED-4DB2-BD59-A6C34878D82A}">
                    <a16:rowId xmlns:a16="http://schemas.microsoft.com/office/drawing/2014/main" val="3741964922"/>
                  </a:ext>
                </a:extLst>
              </a:tr>
            </a:tbl>
          </a:graphicData>
        </a:graphic>
      </p:graphicFrame>
      <p:sp>
        <p:nvSpPr>
          <p:cNvPr id="5" name="TextBox 4">
            <a:extLst>
              <a:ext uri="{FF2B5EF4-FFF2-40B4-BE49-F238E27FC236}">
                <a16:creationId xmlns:a16="http://schemas.microsoft.com/office/drawing/2014/main" id="{6D7F0AB6-7F64-C3BC-08D3-7CBC50E4BC02}"/>
              </a:ext>
            </a:extLst>
          </p:cNvPr>
          <p:cNvSpPr txBox="1"/>
          <p:nvPr/>
        </p:nvSpPr>
        <p:spPr>
          <a:xfrm>
            <a:off x="948906" y="539151"/>
            <a:ext cx="9589698"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MODEL EVALUATION</a:t>
            </a:r>
          </a:p>
          <a:p>
            <a:r>
              <a:rPr lang="en-US" sz="1600" dirty="0"/>
              <a:t>Models were evaluated using three performance metrics:</a:t>
            </a:r>
          </a:p>
          <a:p>
            <a:r>
              <a:rPr lang="en-US" sz="1600" b="1" dirty="0"/>
              <a:t>RMSE</a:t>
            </a:r>
          </a:p>
          <a:p>
            <a:r>
              <a:rPr lang="en-US" sz="1600" dirty="0"/>
              <a:t>Measures the magnitude of prediction errors. Lower RMSE indicates better performance.</a:t>
            </a:r>
          </a:p>
          <a:p>
            <a:r>
              <a:rPr lang="en-US" sz="1600" b="1" dirty="0"/>
              <a:t>MAE</a:t>
            </a:r>
          </a:p>
          <a:p>
            <a:r>
              <a:rPr lang="en-US" sz="1600" dirty="0"/>
              <a:t>Measures the average absolute difference between actual and predicted traffic. Lower MAE is better.</a:t>
            </a:r>
          </a:p>
          <a:p>
            <a:r>
              <a:rPr lang="en-US" sz="1600" b="1" dirty="0"/>
              <a:t>MAPE</a:t>
            </a:r>
          </a:p>
          <a:p>
            <a:r>
              <a:rPr lang="en-US" sz="1600" dirty="0"/>
              <a:t>Measures prediction error as a percentage. Lower MAPE indicates better forecasting accuracy.</a:t>
            </a:r>
          </a:p>
          <a:p>
            <a:r>
              <a:rPr lang="en-US" sz="1600" b="1" dirty="0"/>
              <a:t>Benchmark Results</a:t>
            </a:r>
          </a:p>
          <a:p>
            <a:r>
              <a:rPr lang="en-US" sz="1600" b="1" dirty="0"/>
              <a:t>Best benchmark model: Extra Trees Regressor</a:t>
            </a:r>
          </a:p>
          <a:p>
            <a:pPr algn="ctr"/>
            <a:endParaRPr lang="en-US"/>
          </a:p>
        </p:txBody>
      </p:sp>
    </p:spTree>
    <p:extLst>
      <p:ext uri="{BB962C8B-B14F-4D97-AF65-F5344CB8AC3E}">
        <p14:creationId xmlns:p14="http://schemas.microsoft.com/office/powerpoint/2010/main" val="3152336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A453D8-8F42-FCFB-53D8-50B7C2CC25E8}"/>
              </a:ext>
            </a:extLst>
          </p:cNvPr>
          <p:cNvPicPr>
            <a:picLocks noChangeAspect="1"/>
          </p:cNvPicPr>
          <p:nvPr/>
        </p:nvPicPr>
        <p:blipFill>
          <a:blip r:embed="rId2"/>
          <a:stretch>
            <a:fillRect/>
          </a:stretch>
        </p:blipFill>
        <p:spPr>
          <a:xfrm>
            <a:off x="6801479" y="1327030"/>
            <a:ext cx="4886325" cy="3657600"/>
          </a:xfrm>
          <a:prstGeom prst="rect">
            <a:avLst/>
          </a:prstGeom>
        </p:spPr>
      </p:pic>
      <p:sp>
        <p:nvSpPr>
          <p:cNvPr id="10" name="Content Placeholder 9">
            <a:extLst>
              <a:ext uri="{FF2B5EF4-FFF2-40B4-BE49-F238E27FC236}">
                <a16:creationId xmlns:a16="http://schemas.microsoft.com/office/drawing/2014/main" id="{5EB2ED3B-0BAF-1A32-9654-C76AF05EBF52}"/>
              </a:ext>
            </a:extLst>
          </p:cNvPr>
          <p:cNvSpPr>
            <a:spLocks noGrp="1"/>
          </p:cNvSpPr>
          <p:nvPr>
            <p:ph idx="1"/>
          </p:nvPr>
        </p:nvSpPr>
        <p:spPr/>
        <p:txBody>
          <a:bodyPr vert="horz" lIns="91440" tIns="45720" rIns="91440" bIns="45720" rtlCol="0" anchor="t">
            <a:normAutofit fontScale="92500" lnSpcReduction="20000"/>
          </a:bodyPr>
          <a:lstStyle/>
          <a:p>
            <a:r>
              <a:rPr lang="en-US" dirty="0"/>
              <a:t>STREAMLIT WEB APPLICATION</a:t>
            </a:r>
          </a:p>
          <a:p>
            <a:r>
              <a:rPr lang="en-US" dirty="0">
                <a:ea typeface="+mn-lt"/>
                <a:cs typeface="+mn-lt"/>
              </a:rPr>
              <a:t>A </a:t>
            </a:r>
            <a:r>
              <a:rPr lang="en-US" dirty="0" err="1">
                <a:ea typeface="+mn-lt"/>
                <a:cs typeface="+mn-lt"/>
              </a:rPr>
              <a:t>Streamlit</a:t>
            </a:r>
            <a:r>
              <a:rPr lang="en-US" dirty="0">
                <a:ea typeface="+mn-lt"/>
                <a:cs typeface="+mn-lt"/>
              </a:rPr>
              <a:t>-based interactive dashboard was developed for website traffic forecasting.</a:t>
            </a:r>
            <a:endParaRPr lang="en-US" dirty="0"/>
          </a:p>
          <a:p>
            <a:r>
              <a:rPr lang="en-US" dirty="0"/>
              <a:t>Dashboard Features</a:t>
            </a:r>
          </a:p>
          <a:p>
            <a:r>
              <a:rPr lang="en-US" dirty="0">
                <a:ea typeface="+mn-lt"/>
                <a:cs typeface="+mn-lt"/>
              </a:rPr>
              <a:t>Website traffic overview</a:t>
            </a:r>
            <a:endParaRPr lang="en-US" dirty="0"/>
          </a:p>
          <a:p>
            <a:r>
              <a:rPr lang="en-US" dirty="0">
                <a:ea typeface="+mn-lt"/>
                <a:cs typeface="+mn-lt"/>
              </a:rPr>
              <a:t>Total days and traffic KPIs</a:t>
            </a:r>
            <a:endParaRPr lang="en-US" dirty="0"/>
          </a:p>
          <a:p>
            <a:r>
              <a:rPr lang="en-US" dirty="0">
                <a:ea typeface="+mn-lt"/>
                <a:cs typeface="+mn-lt"/>
              </a:rPr>
              <a:t>Daily traffic visualization</a:t>
            </a:r>
            <a:endParaRPr lang="en-US" dirty="0"/>
          </a:p>
          <a:p>
            <a:r>
              <a:rPr lang="en-US" dirty="0">
                <a:ea typeface="+mn-lt"/>
                <a:cs typeface="+mn-lt"/>
              </a:rPr>
              <a:t>Weekday and monthly traffic analysis</a:t>
            </a:r>
            <a:endParaRPr lang="en-US" dirty="0"/>
          </a:p>
          <a:p>
            <a:r>
              <a:rPr lang="en-US" dirty="0">
                <a:ea typeface="+mn-lt"/>
                <a:cs typeface="+mn-lt"/>
              </a:rPr>
              <a:t>Model performance comparison</a:t>
            </a:r>
            <a:endParaRPr lang="en-US" dirty="0"/>
          </a:p>
          <a:p>
            <a:r>
              <a:rPr lang="en-US" dirty="0">
                <a:ea typeface="+mn-lt"/>
                <a:cs typeface="+mn-lt"/>
              </a:rPr>
              <a:t>Actual vs predicted traffic</a:t>
            </a:r>
            <a:endParaRPr lang="en-US" dirty="0"/>
          </a:p>
          <a:p>
            <a:r>
              <a:rPr lang="en-US" dirty="0">
                <a:ea typeface="+mn-lt"/>
                <a:cs typeface="+mn-lt"/>
              </a:rPr>
              <a:t>Future traffic forecasting</a:t>
            </a:r>
            <a:endParaRPr lang="en-US" dirty="0"/>
          </a:p>
          <a:p>
            <a:r>
              <a:rPr lang="en-US" dirty="0">
                <a:ea typeface="+mn-lt"/>
                <a:cs typeface="+mn-lt"/>
              </a:rPr>
              <a:t>Feature importance visualization</a:t>
            </a:r>
            <a:endParaRPr lang="en-US" dirty="0"/>
          </a:p>
          <a:p>
            <a:r>
              <a:rPr lang="en-US" dirty="0">
                <a:ea typeface="+mn-lt"/>
                <a:cs typeface="+mn-lt"/>
              </a:rPr>
              <a:t>Forecast data download as CSV</a:t>
            </a:r>
            <a:endParaRPr lang="en-US" dirty="0"/>
          </a:p>
          <a:p>
            <a:r>
              <a:rPr lang="en-US" dirty="0"/>
              <a:t>Technologies</a:t>
            </a:r>
          </a:p>
          <a:p>
            <a:r>
              <a:rPr lang="en-US" b="1" dirty="0">
                <a:ea typeface="+mn-lt"/>
                <a:cs typeface="+mn-lt"/>
              </a:rPr>
              <a:t>Python | </a:t>
            </a:r>
            <a:r>
              <a:rPr lang="en-US" b="1" dirty="0" err="1">
                <a:ea typeface="+mn-lt"/>
                <a:cs typeface="+mn-lt"/>
              </a:rPr>
              <a:t>Streamlit</a:t>
            </a:r>
            <a:r>
              <a:rPr lang="en-US" b="1" dirty="0">
                <a:ea typeface="+mn-lt"/>
                <a:cs typeface="+mn-lt"/>
              </a:rPr>
              <a:t> | Pandas | NumPy | Scikit-learn | </a:t>
            </a:r>
            <a:r>
              <a:rPr lang="en-US" b="1" dirty="0" err="1">
                <a:ea typeface="+mn-lt"/>
                <a:cs typeface="+mn-lt"/>
              </a:rPr>
              <a:t>Statsmodels</a:t>
            </a:r>
            <a:r>
              <a:rPr lang="en-US" b="1" dirty="0">
                <a:ea typeface="+mn-lt"/>
                <a:cs typeface="+mn-lt"/>
              </a:rPr>
              <a:t> | Matplotlib</a:t>
            </a:r>
            <a:endParaRPr lang="en-US" dirty="0"/>
          </a:p>
          <a:p>
            <a:endParaRPr lang="en-US" dirty="0"/>
          </a:p>
        </p:txBody>
      </p:sp>
    </p:spTree>
    <p:extLst>
      <p:ext uri="{BB962C8B-B14F-4D97-AF65-F5344CB8AC3E}">
        <p14:creationId xmlns:p14="http://schemas.microsoft.com/office/powerpoint/2010/main" val="1396934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880DE45-45FC-090E-E320-34268A078533}"/>
              </a:ext>
            </a:extLst>
          </p:cNvPr>
          <p:cNvPicPr>
            <a:picLocks noChangeAspect="1"/>
          </p:cNvPicPr>
          <p:nvPr/>
        </p:nvPicPr>
        <p:blipFill>
          <a:blip r:embed="rId2"/>
          <a:stretch>
            <a:fillRect/>
          </a:stretch>
        </p:blipFill>
        <p:spPr>
          <a:xfrm>
            <a:off x="574914" y="711319"/>
            <a:ext cx="11070926" cy="5435362"/>
          </a:xfrm>
          <a:prstGeom prst="rect">
            <a:avLst/>
          </a:prstGeom>
        </p:spPr>
      </p:pic>
    </p:spTree>
    <p:extLst>
      <p:ext uri="{BB962C8B-B14F-4D97-AF65-F5344CB8AC3E}">
        <p14:creationId xmlns:p14="http://schemas.microsoft.com/office/powerpoint/2010/main" val="758271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6E6B95-56E8-7BBA-322E-EEE285B1191E}"/>
              </a:ext>
            </a:extLst>
          </p:cNvPr>
          <p:cNvSpPr>
            <a:spLocks noGrp="1"/>
          </p:cNvSpPr>
          <p:nvPr>
            <p:ph idx="1"/>
          </p:nvPr>
        </p:nvSpPr>
        <p:spPr/>
        <p:txBody>
          <a:bodyPr vert="horz" lIns="91440" tIns="45720" rIns="91440" bIns="45720" rtlCol="0" anchor="t">
            <a:normAutofit fontScale="85000" lnSpcReduction="20000"/>
          </a:bodyPr>
          <a:lstStyle/>
          <a:p>
            <a:pPr algn="ctr"/>
            <a:r>
              <a:rPr lang="en-US" sz="2800" b="1" dirty="0">
                <a:solidFill>
                  <a:srgbClr val="FF0000"/>
                </a:solidFill>
              </a:rPr>
              <a:t>CONCLUSION &amp; FUTURE SCOPE</a:t>
            </a:r>
          </a:p>
          <a:p>
            <a:pPr algn="ctr"/>
            <a:r>
              <a:rPr lang="en-US" sz="2400" b="1" dirty="0"/>
              <a:t>Conclusion</a:t>
            </a:r>
          </a:p>
          <a:p>
            <a:r>
              <a:rPr lang="en-US" dirty="0">
                <a:ea typeface="+mn-lt"/>
                <a:cs typeface="+mn-lt"/>
              </a:rPr>
              <a:t>Historical website traffic was successfully analyzed and forecasted.</a:t>
            </a:r>
            <a:endParaRPr lang="en-US" dirty="0"/>
          </a:p>
          <a:p>
            <a:r>
              <a:rPr lang="en-US" dirty="0">
                <a:ea typeface="+mn-lt"/>
                <a:cs typeface="+mn-lt"/>
              </a:rPr>
              <a:t>Time-series and machine-learning approaches were compared.</a:t>
            </a:r>
            <a:endParaRPr lang="en-US" dirty="0"/>
          </a:p>
          <a:p>
            <a:r>
              <a:rPr lang="en-US" dirty="0">
                <a:ea typeface="+mn-lt"/>
                <a:cs typeface="+mn-lt"/>
              </a:rPr>
              <a:t>Feature engineering improved the ability to capture historical traffic patterns.</a:t>
            </a:r>
            <a:endParaRPr lang="en-US" dirty="0"/>
          </a:p>
          <a:p>
            <a:r>
              <a:rPr lang="en-US" dirty="0">
                <a:ea typeface="+mn-lt"/>
                <a:cs typeface="+mn-lt"/>
              </a:rPr>
              <a:t>Extra Trees achieved the best benchmark performance with an RMSE of approximately </a:t>
            </a:r>
            <a:r>
              <a:rPr lang="en-US" b="1" dirty="0">
                <a:ea typeface="+mn-lt"/>
                <a:cs typeface="+mn-lt"/>
              </a:rPr>
              <a:t>347.28</a:t>
            </a:r>
            <a:r>
              <a:rPr lang="en-US" dirty="0">
                <a:ea typeface="+mn-lt"/>
                <a:cs typeface="+mn-lt"/>
              </a:rPr>
              <a:t> and MAPE of </a:t>
            </a:r>
            <a:r>
              <a:rPr lang="en-US" b="1" dirty="0">
                <a:ea typeface="+mn-lt"/>
                <a:cs typeface="+mn-lt"/>
              </a:rPr>
              <a:t>6.86%</a:t>
            </a:r>
            <a:r>
              <a:rPr lang="en-US" dirty="0">
                <a:ea typeface="+mn-lt"/>
                <a:cs typeface="+mn-lt"/>
              </a:rPr>
              <a:t>.</a:t>
            </a:r>
            <a:endParaRPr lang="en-US" dirty="0"/>
          </a:p>
          <a:p>
            <a:r>
              <a:rPr lang="en-US" dirty="0">
                <a:ea typeface="+mn-lt"/>
                <a:cs typeface="+mn-lt"/>
              </a:rPr>
              <a:t>An interactive </a:t>
            </a:r>
            <a:r>
              <a:rPr lang="en-US" dirty="0" err="1">
                <a:ea typeface="+mn-lt"/>
                <a:cs typeface="+mn-lt"/>
              </a:rPr>
              <a:t>Streamlit</a:t>
            </a:r>
            <a:r>
              <a:rPr lang="en-US" dirty="0">
                <a:ea typeface="+mn-lt"/>
                <a:cs typeface="+mn-lt"/>
              </a:rPr>
              <a:t> dashboard was developed for visualization and forecasting.</a:t>
            </a:r>
            <a:endParaRPr lang="en-US" dirty="0"/>
          </a:p>
          <a:p>
            <a:pPr algn="ctr"/>
            <a:r>
              <a:rPr lang="en-US" sz="2400" b="1" dirty="0"/>
              <a:t>Future Scope</a:t>
            </a:r>
          </a:p>
          <a:p>
            <a:r>
              <a:rPr lang="en-US" dirty="0">
                <a:ea typeface="+mn-lt"/>
                <a:cs typeface="+mn-lt"/>
              </a:rPr>
              <a:t>Develop a true hybrid/ensemble forecasting model.</a:t>
            </a:r>
            <a:endParaRPr lang="en-US" dirty="0"/>
          </a:p>
          <a:p>
            <a:r>
              <a:rPr lang="en-US" dirty="0">
                <a:ea typeface="+mn-lt"/>
                <a:cs typeface="+mn-lt"/>
              </a:rPr>
              <a:t>Incorporate external factors such as holidays, campaigns and marketing events.</a:t>
            </a:r>
            <a:endParaRPr lang="en-US" dirty="0"/>
          </a:p>
          <a:p>
            <a:r>
              <a:rPr lang="en-US" dirty="0">
                <a:ea typeface="+mn-lt"/>
                <a:cs typeface="+mn-lt"/>
              </a:rPr>
              <a:t>Experiment with advanced models such as </a:t>
            </a:r>
            <a:r>
              <a:rPr lang="en-US" dirty="0" err="1">
                <a:ea typeface="+mn-lt"/>
                <a:cs typeface="+mn-lt"/>
              </a:rPr>
              <a:t>XGBoost</a:t>
            </a:r>
            <a:r>
              <a:rPr lang="en-US" dirty="0">
                <a:ea typeface="+mn-lt"/>
                <a:cs typeface="+mn-lt"/>
              </a:rPr>
              <a:t>, </a:t>
            </a:r>
            <a:r>
              <a:rPr lang="en-US" dirty="0" err="1">
                <a:ea typeface="+mn-lt"/>
                <a:cs typeface="+mn-lt"/>
              </a:rPr>
              <a:t>LightGBM</a:t>
            </a:r>
            <a:r>
              <a:rPr lang="en-US" dirty="0">
                <a:ea typeface="+mn-lt"/>
                <a:cs typeface="+mn-lt"/>
              </a:rPr>
              <a:t> and LSTM.</a:t>
            </a:r>
            <a:endParaRPr lang="en-US" dirty="0"/>
          </a:p>
          <a:p>
            <a:r>
              <a:rPr lang="en-US" dirty="0">
                <a:ea typeface="+mn-lt"/>
                <a:cs typeface="+mn-lt"/>
              </a:rPr>
              <a:t>Deploy the forecasting system as a production web application.</a:t>
            </a:r>
            <a:endParaRPr lang="en-US" dirty="0"/>
          </a:p>
          <a:p>
            <a:r>
              <a:rPr lang="en-US" dirty="0">
                <a:ea typeface="+mn-lt"/>
                <a:cs typeface="+mn-lt"/>
              </a:rPr>
              <a:t>Add automated model retraining with new traffic data.</a:t>
            </a:r>
            <a:endParaRPr lang="en-US" dirty="0"/>
          </a:p>
          <a:p>
            <a:endParaRPr lang="en-US" dirty="0"/>
          </a:p>
        </p:txBody>
      </p:sp>
      <p:pic>
        <p:nvPicPr>
          <p:cNvPr id="5" name="Picture 4">
            <a:extLst>
              <a:ext uri="{FF2B5EF4-FFF2-40B4-BE49-F238E27FC236}">
                <a16:creationId xmlns:a16="http://schemas.microsoft.com/office/drawing/2014/main" id="{BC41C48E-6917-2210-A77F-4D05B781C28B}"/>
              </a:ext>
            </a:extLst>
          </p:cNvPr>
          <p:cNvPicPr>
            <a:picLocks noChangeAspect="1"/>
          </p:cNvPicPr>
          <p:nvPr/>
        </p:nvPicPr>
        <p:blipFill>
          <a:blip r:embed="rId2"/>
          <a:stretch>
            <a:fillRect/>
          </a:stretch>
        </p:blipFill>
        <p:spPr>
          <a:xfrm>
            <a:off x="9270789" y="614901"/>
            <a:ext cx="2506875" cy="5700085"/>
          </a:xfrm>
          <a:prstGeom prst="rect">
            <a:avLst/>
          </a:prstGeom>
        </p:spPr>
      </p:pic>
    </p:spTree>
    <p:extLst>
      <p:ext uri="{BB962C8B-B14F-4D97-AF65-F5344CB8AC3E}">
        <p14:creationId xmlns:p14="http://schemas.microsoft.com/office/powerpoint/2010/main" val="6576305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913DB040-6816-4415-960D-8178C785755E}"/>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Savon</vt:lpstr>
      <vt:lpstr>Weather traffic forecasting </vt:lpstr>
      <vt:lpstr>INTRODUCTION Website traffic forecasting predicts the number of visitors or page loads for future dates. Accurate traffic prediction helps organizations understand future demand. It supports better resource allocation, server planning and business decision-making. This project analyzes historical daily website traffic and predicts future traffic using multiple forecasting approaches. Both time-series and machine-learning techniques are evaluated to identify the most effective model. </vt:lpstr>
      <vt:lpstr>Historical Data → ML Forecasting → Better Decisions </vt:lpstr>
      <vt:lpstr>Main Features 1]Date 2]Page Loads 3]Unique Visits 4]First-Time Visits 5]Returning Visits 6]New Sessions 7]Returning Sessions 8]New Visits The dataset contains continuous daily observations, making it suitable for time-series forecasting. </vt:lpstr>
      <vt:lpstr>PowerPoint Presentation</vt:lpstr>
      <vt:lpstr>PowerPoint Presentation</vt:lpstr>
      <vt:lpstr>FEATURE ENGINEERING Time-series features were created to help machine-learning models learn historical traffic patterns. Lag Features Lag 1 Lag 2 Lag 3 Lag 7 Lag 14 Lag 21 Lag 28 #Rolling Features 7-day rolling mean and standard deviation 14-day rolling mean and standard deviation 28-day rolling mean and standard deviation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242</cp:revision>
  <dcterms:created xsi:type="dcterms:W3CDTF">2026-10-06T09:32:40Z</dcterms:created>
  <dcterms:modified xsi:type="dcterms:W3CDTF">2026-10-06T10:58:04Z</dcterms:modified>
</cp:coreProperties>
</file>